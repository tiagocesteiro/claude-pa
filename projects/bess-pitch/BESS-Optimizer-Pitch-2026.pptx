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4" name="Text 2"/>
          <p:cNvSpPr/>
          <p:nvPr/>
        </p:nvSpPr>
        <p:spPr>
          <a:xfrm>
            <a:off x="1097280" y="1645920"/>
            <a:ext cx="10058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BESS Optimizer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1097280" y="265176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Portugal &amp; Ibéria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097280" y="338328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Otimização de Armazenamento de Energia com IA</a:t>
            </a:r>
            <a:endParaRPr lang="en-US" sz="16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Apresentação a Investidores — 2026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686800" y="3017520"/>
            <a:ext cx="3017520" cy="1645920"/>
          </a:xfrm>
          <a:prstGeom prst="rect">
            <a:avLst/>
          </a:prstGeom>
          <a:solidFill>
            <a:srgbClr val="1B3A5C"/>
          </a:solidFill>
          <a:ln w="19050">
            <a:solidFill>
              <a:srgbClr val="00C9A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0" y="3200400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€39B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8686800" y="3840480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Mercado VPP Global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2035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0" y="6537960"/>
            <a:ext cx="12192000" cy="18288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658368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Confidencial — Apenas para Investidores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247120" y="658368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2026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502920"/>
            <a:ext cx="54864" cy="457200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41148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Problema: Baterias a Perder Dinheiro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40080" y="10058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proprietários de baterias em Portugal não têm como otimizar as suas receitas sozinhos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5394960" cy="1920240"/>
          </a:xfrm>
          <a:prstGeom prst="rect">
            <a:avLst>
              <a:gd name="adj" fmla="val 4762"/>
            </a:avLst>
          </a:prstGeom>
          <a:solidFill>
            <a:srgbClr val="1B3A5C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73736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Mercados Complexos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2148840"/>
            <a:ext cx="5029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Arbitragem no mercado grossista (OMIE), serviços de equilíbrio (REN) e mecanismos de capacidade — em simultâneo.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309360" y="1554480"/>
            <a:ext cx="5394960" cy="1920240"/>
          </a:xfrm>
          <a:prstGeom prst="rect">
            <a:avLst>
              <a:gd name="adj" fmla="val 4762"/>
            </a:avLst>
          </a:prstGeom>
          <a:solidFill>
            <a:srgbClr val="1B3A5C"/>
          </a:solidFill>
          <a:ln/>
        </p:spPr>
      </p:sp>
      <p:sp>
        <p:nvSpPr>
          <p:cNvPr id="10" name="Text 8"/>
          <p:cNvSpPr/>
          <p:nvPr/>
        </p:nvSpPr>
        <p:spPr>
          <a:xfrm>
            <a:off x="6492240" y="173736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 IA Obrigatória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92240" y="2148840"/>
            <a:ext cx="5029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Decisões de carga/descarga em tempo real exigem algoritmos de ML que nenhum operador local tem.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3840480"/>
            <a:ext cx="5394960" cy="1920240"/>
          </a:xfrm>
          <a:prstGeom prst="rect">
            <a:avLst>
              <a:gd name="adj" fmla="val 4762"/>
            </a:avLst>
          </a:prstGeom>
          <a:solidFill>
            <a:srgbClr val="1B3A5C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402336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Regulação Labiríntica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40080" y="4434840"/>
            <a:ext cx="5029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Certificação técnica pela REN + registo DGEG/ERSE + participação no OMIE. Barreiras altas para novos operadores.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309360" y="3840480"/>
            <a:ext cx="5394960" cy="1920240"/>
          </a:xfrm>
          <a:prstGeom prst="rect">
            <a:avLst>
              <a:gd name="adj" fmla="val 4762"/>
            </a:avLst>
          </a:prstGeom>
          <a:solidFill>
            <a:srgbClr val="1B3A5C"/>
          </a:solidFill>
          <a:ln/>
        </p:spPr>
      </p:sp>
      <p:sp>
        <p:nvSpPr>
          <p:cNvPr id="16" name="Text 14"/>
          <p:cNvSpPr/>
          <p:nvPr/>
        </p:nvSpPr>
        <p:spPr>
          <a:xfrm>
            <a:off x="6492240" y="402336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🏁  Mercado Sem Jogador Nativo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492240" y="4434840"/>
            <a:ext cx="5029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Até março de 2026, nenhuma empresa portuguesa detém licença de agregador independente em Portugal.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0" y="6537960"/>
            <a:ext cx="12192000" cy="18288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658368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Confidencial — Apenas para Investidores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247120" y="658368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2026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502920"/>
            <a:ext cx="54864" cy="457200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41148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Solução: BESS Optimizer com IA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40080" y="10058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Gerimos baterias de terceiros e maximizamos as suas receitas em todos os mercados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920240" y="1645920"/>
            <a:ext cx="1280160" cy="1280160"/>
          </a:xfrm>
          <a:prstGeom prst="ellipse">
            <a:avLst/>
          </a:prstGeom>
          <a:solidFill>
            <a:srgbClr val="0D1B2A"/>
          </a:solidFill>
          <a:ln/>
        </p:spPr>
      </p:sp>
      <p:sp>
        <p:nvSpPr>
          <p:cNvPr id="7" name="Text 5"/>
          <p:cNvSpPr/>
          <p:nvPr/>
        </p:nvSpPr>
        <p:spPr>
          <a:xfrm>
            <a:off x="1920240" y="1691640"/>
            <a:ext cx="12801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731520" y="306324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Conectar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31520" y="3566160"/>
            <a:ext cx="3657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Ligamos a bateria via SCADA/telemetria em tempo real ao nosso sistema.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206240" y="2148840"/>
            <a:ext cx="457200" cy="45720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11" name="Shape 9"/>
          <p:cNvSpPr/>
          <p:nvPr/>
        </p:nvSpPr>
        <p:spPr>
          <a:xfrm>
            <a:off x="4480560" y="2084832"/>
            <a:ext cx="45720" cy="182880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12" name="Shape 10"/>
          <p:cNvSpPr/>
          <p:nvPr/>
        </p:nvSpPr>
        <p:spPr>
          <a:xfrm>
            <a:off x="5669280" y="1645920"/>
            <a:ext cx="1280160" cy="1280160"/>
          </a:xfrm>
          <a:prstGeom prst="ellipse">
            <a:avLst/>
          </a:prstGeom>
          <a:solidFill>
            <a:srgbClr val="0D1B2A"/>
          </a:solidFill>
          <a:ln/>
        </p:spPr>
      </p:sp>
      <p:sp>
        <p:nvSpPr>
          <p:cNvPr id="13" name="Text 11"/>
          <p:cNvSpPr/>
          <p:nvPr/>
        </p:nvSpPr>
        <p:spPr>
          <a:xfrm>
            <a:off x="5669280" y="1691640"/>
            <a:ext cx="12801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4480560" y="306324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Otimizar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480560" y="3566160"/>
            <a:ext cx="3657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Algoritmo de Deep Reinforcement Learning decide carregar, descarregar ou aguardar.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955280" y="2148840"/>
            <a:ext cx="457200" cy="45720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17" name="Shape 15"/>
          <p:cNvSpPr/>
          <p:nvPr/>
        </p:nvSpPr>
        <p:spPr>
          <a:xfrm>
            <a:off x="8229600" y="2084832"/>
            <a:ext cx="45720" cy="182880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18" name="Shape 16"/>
          <p:cNvSpPr/>
          <p:nvPr/>
        </p:nvSpPr>
        <p:spPr>
          <a:xfrm>
            <a:off x="9418320" y="1645920"/>
            <a:ext cx="1280160" cy="1280160"/>
          </a:xfrm>
          <a:prstGeom prst="ellipse">
            <a:avLst/>
          </a:prstGeom>
          <a:solidFill>
            <a:srgbClr val="0D1B2A"/>
          </a:solidFill>
          <a:ln/>
        </p:spPr>
      </p:sp>
      <p:sp>
        <p:nvSpPr>
          <p:cNvPr id="19" name="Text 17"/>
          <p:cNvSpPr/>
          <p:nvPr/>
        </p:nvSpPr>
        <p:spPr>
          <a:xfrm>
            <a:off x="9418320" y="1691640"/>
            <a:ext cx="12801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8229600" y="306324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Monetizar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8229600" y="3566160"/>
            <a:ext cx="3657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Licitamos em OMIE + serviços de equilíbrio REN/REE em simultâneo.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2286000" y="4937760"/>
            <a:ext cx="7315200" cy="1280160"/>
          </a:xfrm>
          <a:prstGeom prst="rect">
            <a:avLst>
              <a:gd name="adj" fmla="val 10714"/>
            </a:avLst>
          </a:prstGeom>
          <a:solidFill>
            <a:srgbClr val="0D1B2A"/>
          </a:solidFill>
          <a:ln/>
        </p:spPr>
      </p:sp>
      <p:sp>
        <p:nvSpPr>
          <p:cNvPr id="23" name="Text 21"/>
          <p:cNvSpPr/>
          <p:nvPr/>
        </p:nvSpPr>
        <p:spPr>
          <a:xfrm>
            <a:off x="2468880" y="51206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de Receita: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2468880" y="5486400"/>
            <a:ext cx="8961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10–25% das receitas geradas  •  Sem necessidade de possuir baterias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0" y="6537960"/>
            <a:ext cx="12192000" cy="18288"/>
          </a:xfrm>
          <a:prstGeom prst="rect">
            <a:avLst/>
          </a:prstGeom>
          <a:solidFill>
            <a:srgbClr val="C8D8E8"/>
          </a:solidFill>
          <a:ln/>
        </p:spPr>
      </p:sp>
      <p:sp>
        <p:nvSpPr>
          <p:cNvPr id="26" name="Text 24"/>
          <p:cNvSpPr/>
          <p:nvPr/>
        </p:nvSpPr>
        <p:spPr>
          <a:xfrm>
            <a:off x="457200" y="658368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Confidencial — Apenas para Investidores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1247120" y="658368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2026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502920"/>
            <a:ext cx="54864" cy="457200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41148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Oportunidade: Portugal em Janela Única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5029200" cy="1005840"/>
          </a:xfrm>
          <a:prstGeom prst="rect">
            <a:avLst>
              <a:gd name="adj" fmla="val 7273"/>
            </a:avLst>
          </a:prstGeom>
          <a:solidFill>
            <a:srgbClr val="1B3A5C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60020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750 MVA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640080" y="2084832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Concurso de armazenamento PT — 2026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2743200"/>
            <a:ext cx="5029200" cy="1005840"/>
          </a:xfrm>
          <a:prstGeom prst="rect">
            <a:avLst>
              <a:gd name="adj" fmla="val 7273"/>
            </a:avLst>
          </a:prstGeom>
          <a:solidFill>
            <a:srgbClr val="1B3A5C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78892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720 MWh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640080" y="3273552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BESS em pipeline ambiental em Portugal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3931920"/>
            <a:ext cx="5029200" cy="1005840"/>
          </a:xfrm>
          <a:prstGeom prst="rect">
            <a:avLst>
              <a:gd name="adj" fmla="val 7273"/>
            </a:avLst>
          </a:prstGeom>
          <a:solidFill>
            <a:srgbClr val="1B3A5C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397764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 GW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640080" y="4462272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de armazenamento em Espanha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5120640"/>
            <a:ext cx="5029200" cy="1005840"/>
          </a:xfrm>
          <a:prstGeom prst="rect">
            <a:avLst>
              <a:gd name="adj" fmla="val 7273"/>
            </a:avLst>
          </a:prstGeom>
          <a:solidFill>
            <a:srgbClr val="1B3A5C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516636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640080" y="5650992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Único agregador independente autorizado em PT (estrangeiro)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400800" y="146304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Linha do Tempo Regulatória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400800" y="2011680"/>
            <a:ext cx="164592" cy="164592"/>
          </a:xfrm>
          <a:prstGeom prst="ellipse">
            <a:avLst/>
          </a:prstGeom>
          <a:solidFill>
            <a:srgbClr val="8BA3B8"/>
          </a:solidFill>
          <a:ln/>
        </p:spPr>
      </p:sp>
      <p:sp>
        <p:nvSpPr>
          <p:cNvPr id="19" name="Shape 17"/>
          <p:cNvSpPr/>
          <p:nvPr/>
        </p:nvSpPr>
        <p:spPr>
          <a:xfrm>
            <a:off x="6473952" y="2176272"/>
            <a:ext cx="18288" cy="50292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20" name="Text 18"/>
          <p:cNvSpPr/>
          <p:nvPr/>
        </p:nvSpPr>
        <p:spPr>
          <a:xfrm>
            <a:off x="6675120" y="193852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 2022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675120" y="219456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DL 15/2022 — Quadro legal para agregadores independentes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400800" y="2743200"/>
            <a:ext cx="164592" cy="164592"/>
          </a:xfrm>
          <a:prstGeom prst="ellipse">
            <a:avLst/>
          </a:prstGeom>
          <a:solidFill>
            <a:srgbClr val="8BA3B8"/>
          </a:solidFill>
          <a:ln/>
        </p:spPr>
      </p:sp>
      <p:sp>
        <p:nvSpPr>
          <p:cNvPr id="23" name="Shape 21"/>
          <p:cNvSpPr/>
          <p:nvPr/>
        </p:nvSpPr>
        <p:spPr>
          <a:xfrm>
            <a:off x="6473952" y="2907792"/>
            <a:ext cx="18288" cy="50292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24" name="Text 22"/>
          <p:cNvSpPr/>
          <p:nvPr/>
        </p:nvSpPr>
        <p:spPr>
          <a:xfrm>
            <a:off x="6675120" y="267004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 2025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675120" y="292608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1.ª BESS merchant standalone em Portugal (Casal da Cortiça, 12 MVA)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400800" y="3474720"/>
            <a:ext cx="164592" cy="164592"/>
          </a:xfrm>
          <a:prstGeom prst="ellipse">
            <a:avLst/>
          </a:prstGeom>
          <a:solidFill>
            <a:srgbClr val="8BA3B8"/>
          </a:solidFill>
          <a:ln/>
        </p:spPr>
      </p:sp>
      <p:sp>
        <p:nvSpPr>
          <p:cNvPr id="27" name="Shape 25"/>
          <p:cNvSpPr/>
          <p:nvPr/>
        </p:nvSpPr>
        <p:spPr>
          <a:xfrm>
            <a:off x="6473952" y="3639312"/>
            <a:ext cx="18288" cy="50292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28" name="Text 26"/>
          <p:cNvSpPr/>
          <p:nvPr/>
        </p:nvSpPr>
        <p:spPr>
          <a:xfrm>
            <a:off x="6675120" y="340156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Fev 2025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675120" y="365760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IGNIS: 1.º agregador independente autorizado pela REN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400800" y="4206240"/>
            <a:ext cx="164592" cy="164592"/>
          </a:xfrm>
          <a:prstGeom prst="ellipse">
            <a:avLst/>
          </a:prstGeom>
          <a:solidFill>
            <a:srgbClr val="8BA3B8"/>
          </a:solidFill>
          <a:ln/>
        </p:spPr>
      </p:sp>
      <p:sp>
        <p:nvSpPr>
          <p:cNvPr id="31" name="Shape 29"/>
          <p:cNvSpPr/>
          <p:nvPr/>
        </p:nvSpPr>
        <p:spPr>
          <a:xfrm>
            <a:off x="6473952" y="4370832"/>
            <a:ext cx="18288" cy="50292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2" name="Text 30"/>
          <p:cNvSpPr/>
          <p:nvPr/>
        </p:nvSpPr>
        <p:spPr>
          <a:xfrm>
            <a:off x="6675120" y="413308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 2025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675120" y="438912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Entrix anuncia entrada em Portugal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400800" y="4937760"/>
            <a:ext cx="164592" cy="164592"/>
          </a:xfrm>
          <a:prstGeom prst="ellipse">
            <a:avLst/>
          </a:prstGeom>
          <a:solidFill>
            <a:srgbClr val="8BA3B8"/>
          </a:solidFill>
          <a:ln/>
        </p:spPr>
      </p:sp>
      <p:sp>
        <p:nvSpPr>
          <p:cNvPr id="35" name="Shape 33"/>
          <p:cNvSpPr/>
          <p:nvPr/>
        </p:nvSpPr>
        <p:spPr>
          <a:xfrm>
            <a:off x="6473952" y="5102352"/>
            <a:ext cx="18288" cy="50292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6" name="Text 34"/>
          <p:cNvSpPr/>
          <p:nvPr/>
        </p:nvSpPr>
        <p:spPr>
          <a:xfrm>
            <a:off x="6675120" y="486460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H1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675120" y="512064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Concurso 750 MVA + €400M investimento público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6400800" y="5669280"/>
            <a:ext cx="164592" cy="164592"/>
          </a:xfrm>
          <a:prstGeom prst="ellipse">
            <a:avLst/>
          </a:prstGeom>
          <a:solidFill>
            <a:srgbClr val="00C9A7"/>
          </a:solidFill>
          <a:ln/>
        </p:spPr>
      </p:sp>
      <p:sp>
        <p:nvSpPr>
          <p:cNvPr id="39" name="Shape 37"/>
          <p:cNvSpPr/>
          <p:nvPr/>
        </p:nvSpPr>
        <p:spPr>
          <a:xfrm>
            <a:off x="6473952" y="5833872"/>
            <a:ext cx="18288" cy="50292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40" name="Text 38"/>
          <p:cNvSpPr/>
          <p:nvPr/>
        </p:nvSpPr>
        <p:spPr>
          <a:xfrm>
            <a:off x="6675120" y="559612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Agora →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6675120" y="585216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Janela de oportunidade para player nativo português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0" y="6537960"/>
            <a:ext cx="12192000" cy="18288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43" name="Text 41"/>
          <p:cNvSpPr/>
          <p:nvPr/>
        </p:nvSpPr>
        <p:spPr>
          <a:xfrm>
            <a:off x="457200" y="658368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Confidencial — Apenas para Investidores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11247120" y="658368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2026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502920"/>
            <a:ext cx="54864" cy="457200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41148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Modelos de Negócio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40080" y="10058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Quatro estruturas comerciais — arrancamos com Revenue Share, escalamos para Tolling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600200"/>
            <a:ext cx="5394960" cy="1920240"/>
          </a:xfrm>
          <a:prstGeom prst="rect">
            <a:avLst>
              <a:gd name="adj" fmla="val 4762"/>
            </a:avLst>
          </a:prstGeom>
          <a:solidFill>
            <a:srgbClr val="0D1B2A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1600200"/>
            <a:ext cx="1371600" cy="320040"/>
          </a:xfrm>
          <a:prstGeom prst="rect">
            <a:avLst>
              <a:gd name="adj" fmla="val 14286"/>
            </a:avLst>
          </a:prstGeom>
          <a:solidFill>
            <a:srgbClr val="00C9A7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627632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Arranque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201168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Share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40080" y="2468880"/>
            <a:ext cx="4937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otimizador fica com 10–25% do lucro gerado.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Alinha incentivos. Risco de mercado com o dono do ativo.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309360" y="1600200"/>
            <a:ext cx="5394960" cy="1920240"/>
          </a:xfrm>
          <a:prstGeom prst="rect">
            <a:avLst>
              <a:gd name="adj" fmla="val 4762"/>
            </a:avLst>
          </a:prstGeom>
          <a:solidFill>
            <a:srgbClr val="0D1B2A"/>
          </a:solidFill>
          <a:ln/>
        </p:spPr>
      </p:sp>
      <p:sp>
        <p:nvSpPr>
          <p:cNvPr id="12" name="Shape 10"/>
          <p:cNvSpPr/>
          <p:nvPr/>
        </p:nvSpPr>
        <p:spPr>
          <a:xfrm>
            <a:off x="6309360" y="1600200"/>
            <a:ext cx="1371600" cy="320040"/>
          </a:xfrm>
          <a:prstGeom prst="rect">
            <a:avLst>
              <a:gd name="adj" fmla="val 14286"/>
            </a:avLst>
          </a:prstGeom>
          <a:solidFill>
            <a:srgbClr val="F5A623"/>
          </a:solidFill>
          <a:ln/>
        </p:spPr>
      </p:sp>
      <p:sp>
        <p:nvSpPr>
          <p:cNvPr id="13" name="Text 11"/>
          <p:cNvSpPr/>
          <p:nvPr/>
        </p:nvSpPr>
        <p:spPr>
          <a:xfrm>
            <a:off x="6309360" y="1627632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492240" y="201168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Tolling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492240" y="2468880"/>
            <a:ext cx="4937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Pagamos uma taxa fixa ao dono e ficamos com toda a receita.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Alta margem mas exige capital de trading.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3886200"/>
            <a:ext cx="5394960" cy="1920240"/>
          </a:xfrm>
          <a:prstGeom prst="rect">
            <a:avLst>
              <a:gd name="adj" fmla="val 4762"/>
            </a:avLst>
          </a:prstGeom>
          <a:solidFill>
            <a:srgbClr val="0D1B2A"/>
          </a:solidFill>
          <a:ln/>
        </p:spPr>
      </p:sp>
      <p:sp>
        <p:nvSpPr>
          <p:cNvPr id="17" name="Shape 15"/>
          <p:cNvSpPr/>
          <p:nvPr/>
        </p:nvSpPr>
        <p:spPr>
          <a:xfrm>
            <a:off x="457200" y="3886200"/>
            <a:ext cx="1371600" cy="320040"/>
          </a:xfrm>
          <a:prstGeom prst="rect">
            <a:avLst>
              <a:gd name="adj" fmla="val 14286"/>
            </a:avLst>
          </a:prstGeom>
          <a:solidFill>
            <a:srgbClr val="27AE60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3913632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Híbrido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40080" y="429768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Floor Price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40080" y="4754880"/>
            <a:ext cx="4937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Garantimos receita mínima ao dono.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Partilhamos o excedente — equilibra risco e incentivo.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309360" y="3886200"/>
            <a:ext cx="5394960" cy="1920240"/>
          </a:xfrm>
          <a:prstGeom prst="rect">
            <a:avLst>
              <a:gd name="adj" fmla="val 4762"/>
            </a:avLst>
          </a:prstGeom>
          <a:solidFill>
            <a:srgbClr val="0D1B2A"/>
          </a:solidFill>
          <a:ln/>
        </p:spPr>
      </p:sp>
      <p:sp>
        <p:nvSpPr>
          <p:cNvPr id="22" name="Shape 20"/>
          <p:cNvSpPr/>
          <p:nvPr/>
        </p:nvSpPr>
        <p:spPr>
          <a:xfrm>
            <a:off x="6309360" y="3886200"/>
            <a:ext cx="1371600" cy="320040"/>
          </a:xfrm>
          <a:prstGeom prst="rect">
            <a:avLst>
              <a:gd name="adj" fmla="val 14286"/>
            </a:avLst>
          </a:prstGeom>
          <a:solidFill>
            <a:srgbClr val="8BA3B8"/>
          </a:solidFill>
          <a:ln/>
        </p:spPr>
      </p:sp>
      <p:sp>
        <p:nvSpPr>
          <p:cNvPr id="23" name="Text 21"/>
          <p:cNvSpPr/>
          <p:nvPr/>
        </p:nvSpPr>
        <p:spPr>
          <a:xfrm>
            <a:off x="6309360" y="3913632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Futuro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492240" y="429768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SaaS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6492240" y="4754880"/>
            <a:ext cx="4937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Licenciamos o algoritmo a operadores que gerem os próprios ativos.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Menor margem, zero risco de trading.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0" y="6537960"/>
            <a:ext cx="12192000" cy="18288"/>
          </a:xfrm>
          <a:prstGeom prst="rect">
            <a:avLst/>
          </a:prstGeom>
          <a:solidFill>
            <a:srgbClr val="C8D8E8"/>
          </a:solidFill>
          <a:ln/>
        </p:spPr>
      </p:sp>
      <p:sp>
        <p:nvSpPr>
          <p:cNvPr id="27" name="Text 25"/>
          <p:cNvSpPr/>
          <p:nvPr/>
        </p:nvSpPr>
        <p:spPr>
          <a:xfrm>
            <a:off x="457200" y="658368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Confidencial — Apenas para Investidores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1247120" y="658368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2026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502920"/>
            <a:ext cx="54864" cy="457200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41148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Vantagem Competitiva &amp; Concorrência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Nossos Moats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1828800"/>
            <a:ext cx="5303520" cy="914400"/>
          </a:xfrm>
          <a:prstGeom prst="rect">
            <a:avLst>
              <a:gd name="adj" fmla="val 8000"/>
            </a:avLst>
          </a:prstGeom>
          <a:solidFill>
            <a:srgbClr val="1B3A5C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874520"/>
            <a:ext cx="4937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🔐  Certificações Regulatórias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2267712"/>
            <a:ext cx="4937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6–18 meses para obter — barreira de entrada real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2880360"/>
            <a:ext cx="5303520" cy="914400"/>
          </a:xfrm>
          <a:prstGeom prst="rect">
            <a:avLst>
              <a:gd name="adj" fmla="val 8000"/>
            </a:avLst>
          </a:prstGeom>
          <a:solidFill>
            <a:srgbClr val="1B3A5C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2926080"/>
            <a:ext cx="4937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Dados Proprietários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0080" y="3319272"/>
            <a:ext cx="4937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Histórico de licitações melhora o algoritmo continuamente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3931920"/>
            <a:ext cx="5303520" cy="914400"/>
          </a:xfrm>
          <a:prstGeom prst="rect">
            <a:avLst>
              <a:gd name="adj" fmla="val 8000"/>
            </a:avLst>
          </a:prstGeom>
          <a:solidFill>
            <a:srgbClr val="1B3A5C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3977640"/>
            <a:ext cx="4937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 Deep Reinforcement Learning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0080" y="4370832"/>
            <a:ext cx="4937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+58% vs. métodos tradicionais em arbitragem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4983480"/>
            <a:ext cx="5303520" cy="914400"/>
          </a:xfrm>
          <a:prstGeom prst="rect">
            <a:avLst>
              <a:gd name="adj" fmla="val 8000"/>
            </a:avLst>
          </a:prstGeom>
          <a:solidFill>
            <a:srgbClr val="1B3A5C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5029200"/>
            <a:ext cx="4937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🇵🇹  Player Nativo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40080" y="5422392"/>
            <a:ext cx="4937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Relações com REN/DGEG; agilidade regulatória local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217920" y="13716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Landscape em Portugal/Ibéria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217920" y="1828800"/>
            <a:ext cx="2011680" cy="365760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20" name="Text 18"/>
          <p:cNvSpPr/>
          <p:nvPr/>
        </p:nvSpPr>
        <p:spPr>
          <a:xfrm>
            <a:off x="6217920" y="182880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Empresa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8229600" y="1828800"/>
            <a:ext cx="1371600" cy="365760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22" name="Text 20"/>
          <p:cNvSpPr/>
          <p:nvPr/>
        </p:nvSpPr>
        <p:spPr>
          <a:xfrm>
            <a:off x="8229600" y="182880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Origem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9601200" y="1828800"/>
            <a:ext cx="1645920" cy="365760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24" name="Text 22"/>
          <p:cNvSpPr/>
          <p:nvPr/>
        </p:nvSpPr>
        <p:spPr>
          <a:xfrm>
            <a:off x="9601200" y="182880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Entrada PT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11247120" y="1828800"/>
            <a:ext cx="914400" cy="365760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26" name="Text 24"/>
          <p:cNvSpPr/>
          <p:nvPr/>
        </p:nvSpPr>
        <p:spPr>
          <a:xfrm>
            <a:off x="11247120" y="182880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Nativo?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217920" y="2194560"/>
            <a:ext cx="2011680" cy="640080"/>
          </a:xfrm>
          <a:prstGeom prst="rect">
            <a:avLst/>
          </a:prstGeom>
          <a:solidFill>
            <a:srgbClr val="1B3A5C"/>
          </a:solidFill>
          <a:ln w="6350">
            <a:solidFill>
              <a:srgbClr val="1B3A5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263640" y="219456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IGNIS Energía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8229600" y="2194560"/>
            <a:ext cx="1371600" cy="640080"/>
          </a:xfrm>
          <a:prstGeom prst="rect">
            <a:avLst/>
          </a:prstGeom>
          <a:solidFill>
            <a:srgbClr val="1B3A5C"/>
          </a:solidFill>
          <a:ln w="6350">
            <a:solidFill>
              <a:srgbClr val="1B3A5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275320" y="2194560"/>
            <a:ext cx="1280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Espanha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9601200" y="2194560"/>
            <a:ext cx="1645920" cy="640080"/>
          </a:xfrm>
          <a:prstGeom prst="rect">
            <a:avLst/>
          </a:prstGeom>
          <a:solidFill>
            <a:srgbClr val="1B3A5C"/>
          </a:solidFill>
          <a:ln w="6350">
            <a:solidFill>
              <a:srgbClr val="1B3A5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646920" y="2194560"/>
            <a:ext cx="1554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Fev 2025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11247120" y="2194560"/>
            <a:ext cx="914400" cy="640080"/>
          </a:xfrm>
          <a:prstGeom prst="rect">
            <a:avLst/>
          </a:prstGeom>
          <a:solidFill>
            <a:srgbClr val="1B3A5C"/>
          </a:solidFill>
          <a:ln w="6350">
            <a:solidFill>
              <a:srgbClr val="1B3A5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1292840" y="2194560"/>
            <a:ext cx="822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217920" y="2880360"/>
            <a:ext cx="2011680" cy="640080"/>
          </a:xfrm>
          <a:prstGeom prst="rect">
            <a:avLst/>
          </a:prstGeom>
          <a:solidFill>
            <a:srgbClr val="0D1B2A"/>
          </a:solidFill>
          <a:ln w="6350">
            <a:solidFill>
              <a:srgbClr val="1B3A5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263640" y="288036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Entrix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8229600" y="2880360"/>
            <a:ext cx="1371600" cy="640080"/>
          </a:xfrm>
          <a:prstGeom prst="rect">
            <a:avLst/>
          </a:prstGeom>
          <a:solidFill>
            <a:srgbClr val="0D1B2A"/>
          </a:solidFill>
          <a:ln w="6350">
            <a:solidFill>
              <a:srgbClr val="1B3A5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275320" y="2880360"/>
            <a:ext cx="1280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Alemanha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9601200" y="2880360"/>
            <a:ext cx="1645920" cy="640080"/>
          </a:xfrm>
          <a:prstGeom prst="rect">
            <a:avLst/>
          </a:prstGeom>
          <a:solidFill>
            <a:srgbClr val="0D1B2A"/>
          </a:solidFill>
          <a:ln w="6350">
            <a:solidFill>
              <a:srgbClr val="1B3A5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9646920" y="2880360"/>
            <a:ext cx="1554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 2025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11247120" y="2880360"/>
            <a:ext cx="914400" cy="640080"/>
          </a:xfrm>
          <a:prstGeom prst="rect">
            <a:avLst/>
          </a:prstGeom>
          <a:solidFill>
            <a:srgbClr val="0D1B2A"/>
          </a:solidFill>
          <a:ln w="6350">
            <a:solidFill>
              <a:srgbClr val="1B3A5C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1292840" y="2880360"/>
            <a:ext cx="822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6217920" y="3566160"/>
            <a:ext cx="2011680" cy="640080"/>
          </a:xfrm>
          <a:prstGeom prst="rect">
            <a:avLst/>
          </a:prstGeom>
          <a:solidFill>
            <a:srgbClr val="1B3A5C"/>
          </a:solidFill>
          <a:ln w="6350">
            <a:solidFill>
              <a:srgbClr val="1B3A5C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263640" y="356616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enspired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8229600" y="3566160"/>
            <a:ext cx="1371600" cy="640080"/>
          </a:xfrm>
          <a:prstGeom prst="rect">
            <a:avLst/>
          </a:prstGeom>
          <a:solidFill>
            <a:srgbClr val="1B3A5C"/>
          </a:solidFill>
          <a:ln w="6350">
            <a:solidFill>
              <a:srgbClr val="1B3A5C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8275320" y="3566160"/>
            <a:ext cx="1280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Áustria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9601200" y="3566160"/>
            <a:ext cx="1645920" cy="640080"/>
          </a:xfrm>
          <a:prstGeom prst="rect">
            <a:avLst/>
          </a:prstGeom>
          <a:solidFill>
            <a:srgbClr val="1B3A5C"/>
          </a:solidFill>
          <a:ln w="6350">
            <a:solidFill>
              <a:srgbClr val="1B3A5C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9646920" y="3566160"/>
            <a:ext cx="1554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confirmada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11247120" y="3566160"/>
            <a:ext cx="914400" cy="640080"/>
          </a:xfrm>
          <a:prstGeom prst="rect">
            <a:avLst/>
          </a:prstGeom>
          <a:solidFill>
            <a:srgbClr val="1B3A5C"/>
          </a:solidFill>
          <a:ln w="6350">
            <a:solidFill>
              <a:srgbClr val="1B3A5C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11292840" y="3566160"/>
            <a:ext cx="822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6217920" y="4251960"/>
            <a:ext cx="2011680" cy="640080"/>
          </a:xfrm>
          <a:prstGeom prst="rect">
            <a:avLst/>
          </a:prstGeom>
          <a:solidFill>
            <a:srgbClr val="0D1B2A"/>
          </a:solidFill>
          <a:ln w="6350">
            <a:solidFill>
              <a:srgbClr val="1B3A5C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263640" y="425196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Axpo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8229600" y="4251960"/>
            <a:ext cx="1371600" cy="640080"/>
          </a:xfrm>
          <a:prstGeom prst="rect">
            <a:avLst/>
          </a:prstGeom>
          <a:solidFill>
            <a:srgbClr val="0D1B2A"/>
          </a:solidFill>
          <a:ln w="6350">
            <a:solidFill>
              <a:srgbClr val="1B3A5C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8275320" y="4251960"/>
            <a:ext cx="1280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Suíça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9601200" y="4251960"/>
            <a:ext cx="1645920" cy="640080"/>
          </a:xfrm>
          <a:prstGeom prst="rect">
            <a:avLst/>
          </a:prstGeom>
          <a:solidFill>
            <a:srgbClr val="0D1B2A"/>
          </a:solidFill>
          <a:ln w="6350">
            <a:solidFill>
              <a:srgbClr val="1B3A5C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9646920" y="4251960"/>
            <a:ext cx="1554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</a:t>
            </a:r>
            <a:endParaRPr lang="en-US" sz="1100" dirty="0"/>
          </a:p>
        </p:txBody>
      </p:sp>
      <p:sp>
        <p:nvSpPr>
          <p:cNvPr id="57" name="Shape 55"/>
          <p:cNvSpPr/>
          <p:nvPr/>
        </p:nvSpPr>
        <p:spPr>
          <a:xfrm>
            <a:off x="11247120" y="4251960"/>
            <a:ext cx="914400" cy="640080"/>
          </a:xfrm>
          <a:prstGeom prst="rect">
            <a:avLst/>
          </a:prstGeom>
          <a:solidFill>
            <a:srgbClr val="0D1B2A"/>
          </a:solidFill>
          <a:ln w="6350">
            <a:solidFill>
              <a:srgbClr val="1B3A5C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11292840" y="4251960"/>
            <a:ext cx="822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100" dirty="0"/>
          </a:p>
        </p:txBody>
      </p:sp>
      <p:sp>
        <p:nvSpPr>
          <p:cNvPr id="59" name="Shape 57"/>
          <p:cNvSpPr/>
          <p:nvPr/>
        </p:nvSpPr>
        <p:spPr>
          <a:xfrm>
            <a:off x="6217920" y="4937760"/>
            <a:ext cx="2011680" cy="640080"/>
          </a:xfrm>
          <a:prstGeom prst="rect">
            <a:avLst/>
          </a:prstGeom>
          <a:solidFill>
            <a:srgbClr val="00C9A7"/>
          </a:solidFill>
          <a:ln w="6350">
            <a:solidFill>
              <a:srgbClr val="1B3A5C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263640" y="493776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[Esta empresa]</a:t>
            </a:r>
            <a:endParaRPr lang="en-US" sz="1200" dirty="0"/>
          </a:p>
        </p:txBody>
      </p:sp>
      <p:sp>
        <p:nvSpPr>
          <p:cNvPr id="61" name="Shape 59"/>
          <p:cNvSpPr/>
          <p:nvPr/>
        </p:nvSpPr>
        <p:spPr>
          <a:xfrm>
            <a:off x="8229600" y="4937760"/>
            <a:ext cx="1371600" cy="640080"/>
          </a:xfrm>
          <a:prstGeom prst="rect">
            <a:avLst/>
          </a:prstGeom>
          <a:solidFill>
            <a:srgbClr val="00C9A7"/>
          </a:solidFill>
          <a:ln w="6350">
            <a:solidFill>
              <a:srgbClr val="1B3A5C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8275320" y="4937760"/>
            <a:ext cx="1280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Portugal</a:t>
            </a:r>
            <a:endParaRPr lang="en-US" sz="1200" dirty="0"/>
          </a:p>
        </p:txBody>
      </p:sp>
      <p:sp>
        <p:nvSpPr>
          <p:cNvPr id="63" name="Shape 61"/>
          <p:cNvSpPr/>
          <p:nvPr/>
        </p:nvSpPr>
        <p:spPr>
          <a:xfrm>
            <a:off x="9601200" y="4937760"/>
            <a:ext cx="1645920" cy="640080"/>
          </a:xfrm>
          <a:prstGeom prst="rect">
            <a:avLst/>
          </a:prstGeom>
          <a:solidFill>
            <a:srgbClr val="00C9A7"/>
          </a:solidFill>
          <a:ln w="6350">
            <a:solidFill>
              <a:srgbClr val="1B3A5C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9646920" y="4937760"/>
            <a:ext cx="1554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n-US" sz="1200" dirty="0"/>
          </a:p>
        </p:txBody>
      </p:sp>
      <p:sp>
        <p:nvSpPr>
          <p:cNvPr id="65" name="Shape 63"/>
          <p:cNvSpPr/>
          <p:nvPr/>
        </p:nvSpPr>
        <p:spPr>
          <a:xfrm>
            <a:off x="11247120" y="4937760"/>
            <a:ext cx="914400" cy="640080"/>
          </a:xfrm>
          <a:prstGeom prst="rect">
            <a:avLst/>
          </a:prstGeom>
          <a:solidFill>
            <a:srgbClr val="00C9A7"/>
          </a:solidFill>
          <a:ln w="6350">
            <a:solidFill>
              <a:srgbClr val="1B3A5C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11292840" y="4937760"/>
            <a:ext cx="822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67" name="Shape 65"/>
          <p:cNvSpPr/>
          <p:nvPr/>
        </p:nvSpPr>
        <p:spPr>
          <a:xfrm>
            <a:off x="0" y="6537960"/>
            <a:ext cx="12192000" cy="18288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68" name="Text 66"/>
          <p:cNvSpPr/>
          <p:nvPr/>
        </p:nvSpPr>
        <p:spPr>
          <a:xfrm>
            <a:off x="457200" y="658368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Confidencial — Apenas para Investidores</a:t>
            </a:r>
            <a:endParaRPr lang="en-US" sz="900" dirty="0"/>
          </a:p>
        </p:txBody>
      </p:sp>
      <p:sp>
        <p:nvSpPr>
          <p:cNvPr id="69" name="Text 67"/>
          <p:cNvSpPr/>
          <p:nvPr/>
        </p:nvSpPr>
        <p:spPr>
          <a:xfrm>
            <a:off x="11247120" y="658368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2026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502920"/>
            <a:ext cx="54864" cy="457200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41148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Necessidade de Investimento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40080" y="10058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 Round — 700K€ a 1,5M€ para 18 meses de runway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565545"/>
            <a:ext cx="1097280" cy="2006455"/>
          </a:xfrm>
          <a:prstGeom prst="rect">
            <a:avLst/>
          </a:prstGeom>
          <a:solidFill>
            <a:srgbClr val="0D1B2A">
              <a:alpha val="6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3108960"/>
            <a:ext cx="1097280" cy="146304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2199785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€175K–240K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4663440"/>
            <a:ext cx="1280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Equipa (4 pessoas)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560320" y="3234363"/>
            <a:ext cx="1097280" cy="1337637"/>
          </a:xfrm>
          <a:prstGeom prst="rect">
            <a:avLst/>
          </a:prstGeom>
          <a:solidFill>
            <a:srgbClr val="1B3A5C">
              <a:alpha val="6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2560320" y="3819579"/>
            <a:ext cx="1097280" cy="752421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12" name="Text 10"/>
          <p:cNvSpPr/>
          <p:nvPr/>
        </p:nvSpPr>
        <p:spPr>
          <a:xfrm>
            <a:off x="2468880" y="2868603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€90K–160K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468880" y="4663440"/>
            <a:ext cx="1280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Tecnologia / MVP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0" y="1645920"/>
            <a:ext cx="1097280" cy="2926080"/>
          </a:xfrm>
          <a:prstGeom prst="rect">
            <a:avLst/>
          </a:prstGeom>
          <a:solidFill>
            <a:srgbClr val="F5A623">
              <a:alpha val="60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4572000" y="3735977"/>
            <a:ext cx="1097280" cy="836023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6" name="Text 14"/>
          <p:cNvSpPr/>
          <p:nvPr/>
        </p:nvSpPr>
        <p:spPr>
          <a:xfrm>
            <a:off x="4480560" y="128016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€100K–350K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480560" y="4663440"/>
            <a:ext cx="1280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 de Trading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583680" y="4112187"/>
            <a:ext cx="1097280" cy="459813"/>
          </a:xfrm>
          <a:prstGeom prst="rect">
            <a:avLst/>
          </a:prstGeom>
          <a:solidFill>
            <a:srgbClr val="27AE60">
              <a:alpha val="60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6583680" y="4362994"/>
            <a:ext cx="1097280" cy="209006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20" name="Text 18"/>
          <p:cNvSpPr/>
          <p:nvPr/>
        </p:nvSpPr>
        <p:spPr>
          <a:xfrm>
            <a:off x="6492240" y="3746427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€25K–55K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492240" y="4663440"/>
            <a:ext cx="1280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Regulatório / Legal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595360" y="3443369"/>
            <a:ext cx="1097280" cy="1128631"/>
          </a:xfrm>
          <a:prstGeom prst="rect">
            <a:avLst/>
          </a:prstGeom>
          <a:solidFill>
            <a:srgbClr val="8BA3B8">
              <a:alpha val="60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8595360" y="4112187"/>
            <a:ext cx="1097280" cy="459813"/>
          </a:xfrm>
          <a:prstGeom prst="rect">
            <a:avLst/>
          </a:prstGeom>
          <a:solidFill>
            <a:srgbClr val="8BA3B8"/>
          </a:solidFill>
          <a:ln/>
        </p:spPr>
      </p:sp>
      <p:sp>
        <p:nvSpPr>
          <p:cNvPr id="24" name="Text 22"/>
          <p:cNvSpPr/>
          <p:nvPr/>
        </p:nvSpPr>
        <p:spPr>
          <a:xfrm>
            <a:off x="8503920" y="3077609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€55K–135K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8503920" y="4663440"/>
            <a:ext cx="1280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Operações / Outros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10515600" y="1645920"/>
            <a:ext cx="1463040" cy="3291840"/>
          </a:xfrm>
          <a:prstGeom prst="rect">
            <a:avLst>
              <a:gd name="adj" fmla="val 6250"/>
            </a:avLst>
          </a:prstGeom>
          <a:solidFill>
            <a:srgbClr val="0D1B2A"/>
          </a:solidFill>
          <a:ln/>
        </p:spPr>
      </p:sp>
      <p:sp>
        <p:nvSpPr>
          <p:cNvPr id="27" name="Text 25"/>
          <p:cNvSpPr/>
          <p:nvPr/>
        </p:nvSpPr>
        <p:spPr>
          <a:xfrm>
            <a:off x="10515600" y="1920240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</a:t>
            </a:r>
            <a:endParaRPr lang="en-US" sz="12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 1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0515600" y="2651760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€445K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10515600" y="315468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10515600" y="3429000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€940K</a:t>
            </a:r>
            <a:endParaRPr lang="en-US" sz="2000" dirty="0"/>
          </a:p>
        </p:txBody>
      </p:sp>
      <p:sp>
        <p:nvSpPr>
          <p:cNvPr id="31" name="Shape 29"/>
          <p:cNvSpPr/>
          <p:nvPr/>
        </p:nvSpPr>
        <p:spPr>
          <a:xfrm>
            <a:off x="548640" y="5669280"/>
            <a:ext cx="11430000" cy="548640"/>
          </a:xfrm>
          <a:prstGeom prst="rect">
            <a:avLst>
              <a:gd name="adj" fmla="val 8333"/>
            </a:avLst>
          </a:prstGeom>
          <a:solidFill>
            <a:srgbClr val="FFF3CD"/>
          </a:solidFill>
          <a:ln/>
        </p:spPr>
      </p:sp>
      <p:sp>
        <p:nvSpPr>
          <p:cNvPr id="32" name="Text 30"/>
          <p:cNvSpPr/>
          <p:nvPr/>
        </p:nvSpPr>
        <p:spPr>
          <a:xfrm>
            <a:off x="731520" y="5715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B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Capital de Trading (€100K–350K) é colateral bloqueado — não é gasto operacional. Com linha de garantia bancária, o burn operacional real é €345K–590K.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0" y="6537960"/>
            <a:ext cx="12192000" cy="18288"/>
          </a:xfrm>
          <a:prstGeom prst="rect">
            <a:avLst/>
          </a:prstGeom>
          <a:solidFill>
            <a:srgbClr val="C8D8E8"/>
          </a:solidFill>
          <a:ln/>
        </p:spPr>
      </p:sp>
      <p:sp>
        <p:nvSpPr>
          <p:cNvPr id="34" name="Text 32"/>
          <p:cNvSpPr/>
          <p:nvPr/>
        </p:nvSpPr>
        <p:spPr>
          <a:xfrm>
            <a:off x="457200" y="658368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Confidencial — Apenas para Investidores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1247120" y="658368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2026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502920"/>
            <a:ext cx="54864" cy="457200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41148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Riscos &amp; Mitigação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5394960" cy="1920240"/>
          </a:xfrm>
          <a:prstGeom prst="rect">
            <a:avLst>
              <a:gd name="adj" fmla="val 4762"/>
            </a:avLst>
          </a:prstGeom>
          <a:solidFill>
            <a:srgbClr val="1B3A5C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554480"/>
            <a:ext cx="320040" cy="1920240"/>
          </a:xfrm>
          <a:prstGeom prst="rect">
            <a:avLst>
              <a:gd name="adj" fmla="val 14286"/>
            </a:avLst>
          </a:prstGeom>
          <a:solidFill>
            <a:srgbClr val="F5A623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1664208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Cronograma Regulatório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14400" y="2029968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Certificação REN pode demorar 12+ meses sem receitas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14400" y="2423160"/>
            <a:ext cx="4754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Iniciar processo legal imediatamente. Shadow trading para validar o algoritmo antes de ir live.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1554480"/>
            <a:ext cx="5394960" cy="1920240"/>
          </a:xfrm>
          <a:prstGeom prst="rect">
            <a:avLst>
              <a:gd name="adj" fmla="val 4762"/>
            </a:avLst>
          </a:prstGeom>
          <a:solidFill>
            <a:srgbClr val="1B3A5C"/>
          </a:solidFill>
          <a:ln/>
        </p:spPr>
      </p:sp>
      <p:sp>
        <p:nvSpPr>
          <p:cNvPr id="11" name="Shape 9"/>
          <p:cNvSpPr/>
          <p:nvPr/>
        </p:nvSpPr>
        <p:spPr>
          <a:xfrm>
            <a:off x="6309360" y="1554480"/>
            <a:ext cx="320040" cy="1920240"/>
          </a:xfrm>
          <a:prstGeom prst="rect">
            <a:avLst>
              <a:gd name="adj" fmla="val 14286"/>
            </a:avLst>
          </a:prstGeom>
          <a:solidFill>
            <a:srgbClr val="F5A623"/>
          </a:solidFill>
          <a:ln/>
        </p:spPr>
      </p:sp>
      <p:sp>
        <p:nvSpPr>
          <p:cNvPr id="12" name="Text 10"/>
          <p:cNvSpPr/>
          <p:nvPr/>
        </p:nvSpPr>
        <p:spPr>
          <a:xfrm>
            <a:off x="6766560" y="1664208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 de Trading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766560" y="2029968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Garantias OMIE/REN elevadas para novos operadores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766560" y="2423160"/>
            <a:ext cx="4754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Usar linhas de garantia bancária em vez de capital próprio. Começar com volumes pequenos (1–5 MW).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3840480"/>
            <a:ext cx="5394960" cy="1920240"/>
          </a:xfrm>
          <a:prstGeom prst="rect">
            <a:avLst>
              <a:gd name="adj" fmla="val 4762"/>
            </a:avLst>
          </a:prstGeom>
          <a:solidFill>
            <a:srgbClr val="1B3A5C"/>
          </a:solidFill>
          <a:ln/>
        </p:spPr>
      </p:sp>
      <p:sp>
        <p:nvSpPr>
          <p:cNvPr id="16" name="Shape 14"/>
          <p:cNvSpPr/>
          <p:nvPr/>
        </p:nvSpPr>
        <p:spPr>
          <a:xfrm>
            <a:off x="457200" y="3840480"/>
            <a:ext cx="320040" cy="1920240"/>
          </a:xfrm>
          <a:prstGeom prst="rect">
            <a:avLst>
              <a:gd name="adj" fmla="val 14286"/>
            </a:avLst>
          </a:prstGeom>
          <a:solidFill>
            <a:srgbClr val="F5A623"/>
          </a:solidFill>
          <a:ln/>
        </p:spPr>
      </p:sp>
      <p:sp>
        <p:nvSpPr>
          <p:cNvPr id="17" name="Text 15"/>
          <p:cNvSpPr/>
          <p:nvPr/>
        </p:nvSpPr>
        <p:spPr>
          <a:xfrm>
            <a:off x="914400" y="3950208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Concorrência Externa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914400" y="4315968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Entrix e IGNIS já entraram em Portugal com escala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14400" y="4709160"/>
            <a:ext cx="4754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Foco em relações locais e agilidade. Vantagem nativa em DGEG/REN. Mover mais rápido.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309360" y="3840480"/>
            <a:ext cx="5394960" cy="1920240"/>
          </a:xfrm>
          <a:prstGeom prst="rect">
            <a:avLst>
              <a:gd name="adj" fmla="val 4762"/>
            </a:avLst>
          </a:prstGeom>
          <a:solidFill>
            <a:srgbClr val="1B3A5C"/>
          </a:solidFill>
          <a:ln/>
        </p:spPr>
      </p:sp>
      <p:sp>
        <p:nvSpPr>
          <p:cNvPr id="21" name="Shape 19"/>
          <p:cNvSpPr/>
          <p:nvPr/>
        </p:nvSpPr>
        <p:spPr>
          <a:xfrm>
            <a:off x="6309360" y="3840480"/>
            <a:ext cx="320040" cy="1920240"/>
          </a:xfrm>
          <a:prstGeom prst="rect">
            <a:avLst>
              <a:gd name="adj" fmla="val 14286"/>
            </a:avLst>
          </a:prstGeom>
          <a:solidFill>
            <a:srgbClr val="F5A623"/>
          </a:solidFill>
          <a:ln/>
        </p:spPr>
      </p:sp>
      <p:sp>
        <p:nvSpPr>
          <p:cNvPr id="22" name="Text 20"/>
          <p:cNvSpPr/>
          <p:nvPr/>
        </p:nvSpPr>
        <p:spPr>
          <a:xfrm>
            <a:off x="6766560" y="3950208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do Algoritmo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766560" y="4315968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Subperformance no 1.º ano destrói reputação imediatamente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766560" y="4709160"/>
            <a:ext cx="4754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3–6 meses de shadow trading obrigatórios antes de Live Trading com qualquer ativo.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0" y="6537960"/>
            <a:ext cx="12192000" cy="18288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26" name="Text 24"/>
          <p:cNvSpPr/>
          <p:nvPr/>
        </p:nvSpPr>
        <p:spPr>
          <a:xfrm>
            <a:off x="457200" y="658368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Confidencial — Apenas para Investidores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1247120" y="658368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2026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502920"/>
            <a:ext cx="54864" cy="457200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41148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Próximos Passos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40080" y="10058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ideia ao primeiro ativo gerido — 12 meses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600200"/>
            <a:ext cx="2743200" cy="457200"/>
          </a:xfrm>
          <a:prstGeom prst="rect">
            <a:avLst>
              <a:gd name="adj" fmla="val 16000"/>
            </a:avLst>
          </a:prstGeom>
          <a:solidFill>
            <a:srgbClr val="00C9A7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6002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2026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7200" y="2194560"/>
            <a:ext cx="2743200" cy="1143000"/>
          </a:xfrm>
          <a:prstGeom prst="rect">
            <a:avLst>
              <a:gd name="adj" fmla="val 4800"/>
            </a:avLst>
          </a:prstGeom>
          <a:solidFill>
            <a:srgbClr val="0D1B2A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" y="2194560"/>
            <a:ext cx="109728" cy="1143000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10" name="Text 8"/>
          <p:cNvSpPr/>
          <p:nvPr/>
        </p:nvSpPr>
        <p:spPr>
          <a:xfrm>
            <a:off x="658368" y="2267712"/>
            <a:ext cx="24231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Constituição da empresa + NIF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3474720"/>
            <a:ext cx="2743200" cy="1143000"/>
          </a:xfrm>
          <a:prstGeom prst="rect">
            <a:avLst>
              <a:gd name="adj" fmla="val 4800"/>
            </a:avLst>
          </a:prstGeom>
          <a:solidFill>
            <a:srgbClr val="0D1B2A"/>
          </a:solidFill>
          <a:ln/>
        </p:spPr>
      </p:sp>
      <p:sp>
        <p:nvSpPr>
          <p:cNvPr id="12" name="Shape 10"/>
          <p:cNvSpPr/>
          <p:nvPr/>
        </p:nvSpPr>
        <p:spPr>
          <a:xfrm>
            <a:off x="457200" y="3474720"/>
            <a:ext cx="109728" cy="1143000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13" name="Text 11"/>
          <p:cNvSpPr/>
          <p:nvPr/>
        </p:nvSpPr>
        <p:spPr>
          <a:xfrm>
            <a:off x="658368" y="3547872"/>
            <a:ext cx="24231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Contratar energy lawyer (processo DGEG/ERSE)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4754880"/>
            <a:ext cx="2743200" cy="1143000"/>
          </a:xfrm>
          <a:prstGeom prst="rect">
            <a:avLst>
              <a:gd name="adj" fmla="val 4800"/>
            </a:avLst>
          </a:prstGeom>
          <a:solidFill>
            <a:srgbClr val="0D1B2A"/>
          </a:solidFill>
          <a:ln/>
        </p:spPr>
      </p:sp>
      <p:sp>
        <p:nvSpPr>
          <p:cNvPr id="15" name="Shape 13"/>
          <p:cNvSpPr/>
          <p:nvPr/>
        </p:nvSpPr>
        <p:spPr>
          <a:xfrm>
            <a:off x="457200" y="4754880"/>
            <a:ext cx="109728" cy="1143000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16" name="Text 14"/>
          <p:cNvSpPr/>
          <p:nvPr/>
        </p:nvSpPr>
        <p:spPr>
          <a:xfrm>
            <a:off x="658368" y="4828032"/>
            <a:ext cx="24231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Iniciar pipeline comercial com donos de BESS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383280" y="1600200"/>
            <a:ext cx="2743200" cy="457200"/>
          </a:xfrm>
          <a:prstGeom prst="rect">
            <a:avLst>
              <a:gd name="adj" fmla="val 16000"/>
            </a:avLst>
          </a:prstGeom>
          <a:solidFill>
            <a:srgbClr val="F5A623"/>
          </a:solidFill>
          <a:ln/>
        </p:spPr>
      </p:sp>
      <p:sp>
        <p:nvSpPr>
          <p:cNvPr id="18" name="Text 16"/>
          <p:cNvSpPr/>
          <p:nvPr/>
        </p:nvSpPr>
        <p:spPr>
          <a:xfrm>
            <a:off x="3383280" y="16002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2026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3383280" y="2194560"/>
            <a:ext cx="2743200" cy="1143000"/>
          </a:xfrm>
          <a:prstGeom prst="rect">
            <a:avLst>
              <a:gd name="adj" fmla="val 4800"/>
            </a:avLst>
          </a:prstGeom>
          <a:solidFill>
            <a:srgbClr val="0D1B2A"/>
          </a:solidFill>
          <a:ln/>
        </p:spPr>
      </p:sp>
      <p:sp>
        <p:nvSpPr>
          <p:cNvPr id="20" name="Shape 18"/>
          <p:cNvSpPr/>
          <p:nvPr/>
        </p:nvSpPr>
        <p:spPr>
          <a:xfrm>
            <a:off x="3383280" y="2194560"/>
            <a:ext cx="109728" cy="114300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21" name="Text 19"/>
          <p:cNvSpPr/>
          <p:nvPr/>
        </p:nvSpPr>
        <p:spPr>
          <a:xfrm>
            <a:off x="3584448" y="2267712"/>
            <a:ext cx="24231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Protótipo do algoritmo (forecasting + MILP)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383280" y="3474720"/>
            <a:ext cx="2743200" cy="1143000"/>
          </a:xfrm>
          <a:prstGeom prst="rect">
            <a:avLst>
              <a:gd name="adj" fmla="val 4800"/>
            </a:avLst>
          </a:prstGeom>
          <a:solidFill>
            <a:srgbClr val="0D1B2A"/>
          </a:solidFill>
          <a:ln/>
        </p:spPr>
      </p:sp>
      <p:sp>
        <p:nvSpPr>
          <p:cNvPr id="23" name="Shape 21"/>
          <p:cNvSpPr/>
          <p:nvPr/>
        </p:nvSpPr>
        <p:spPr>
          <a:xfrm>
            <a:off x="3383280" y="3474720"/>
            <a:ext cx="109728" cy="114300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24" name="Text 22"/>
          <p:cNvSpPr/>
          <p:nvPr/>
        </p:nvSpPr>
        <p:spPr>
          <a:xfrm>
            <a:off x="3584448" y="3547872"/>
            <a:ext cx="24231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Shadow trading com dados OMIE históricos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3383280" y="4754880"/>
            <a:ext cx="2743200" cy="1143000"/>
          </a:xfrm>
          <a:prstGeom prst="rect">
            <a:avLst>
              <a:gd name="adj" fmla="val 4800"/>
            </a:avLst>
          </a:prstGeom>
          <a:solidFill>
            <a:srgbClr val="0D1B2A"/>
          </a:solidFill>
          <a:ln/>
        </p:spPr>
      </p:sp>
      <p:sp>
        <p:nvSpPr>
          <p:cNvPr id="26" name="Shape 24"/>
          <p:cNvSpPr/>
          <p:nvPr/>
        </p:nvSpPr>
        <p:spPr>
          <a:xfrm>
            <a:off x="3383280" y="4754880"/>
            <a:ext cx="109728" cy="114300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27" name="Text 25"/>
          <p:cNvSpPr/>
          <p:nvPr/>
        </p:nvSpPr>
        <p:spPr>
          <a:xfrm>
            <a:off x="3584448" y="4828032"/>
            <a:ext cx="24231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Submeter candidatura a agregador independente na REN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309360" y="1600200"/>
            <a:ext cx="2743200" cy="457200"/>
          </a:xfrm>
          <a:prstGeom prst="rect">
            <a:avLst>
              <a:gd name="adj" fmla="val 16000"/>
            </a:avLst>
          </a:prstGeom>
          <a:solidFill>
            <a:srgbClr val="27AE60"/>
          </a:solidFill>
          <a:ln/>
        </p:spPr>
      </p:sp>
      <p:sp>
        <p:nvSpPr>
          <p:cNvPr id="29" name="Text 27"/>
          <p:cNvSpPr/>
          <p:nvPr/>
        </p:nvSpPr>
        <p:spPr>
          <a:xfrm>
            <a:off x="6309360" y="16002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2026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6309360" y="2194560"/>
            <a:ext cx="2743200" cy="1143000"/>
          </a:xfrm>
          <a:prstGeom prst="rect">
            <a:avLst>
              <a:gd name="adj" fmla="val 4800"/>
            </a:avLst>
          </a:prstGeom>
          <a:solidFill>
            <a:srgbClr val="0D1B2A"/>
          </a:solidFill>
          <a:ln/>
        </p:spPr>
      </p:sp>
      <p:sp>
        <p:nvSpPr>
          <p:cNvPr id="31" name="Shape 29"/>
          <p:cNvSpPr/>
          <p:nvPr/>
        </p:nvSpPr>
        <p:spPr>
          <a:xfrm>
            <a:off x="6309360" y="2194560"/>
            <a:ext cx="109728" cy="114300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32" name="Text 30"/>
          <p:cNvSpPr/>
          <p:nvPr/>
        </p:nvSpPr>
        <p:spPr>
          <a:xfrm>
            <a:off x="6510528" y="2267712"/>
            <a:ext cx="24231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Fechar acordo de piloto (1–5 MW)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6309360" y="3474720"/>
            <a:ext cx="2743200" cy="1143000"/>
          </a:xfrm>
          <a:prstGeom prst="rect">
            <a:avLst>
              <a:gd name="adj" fmla="val 4800"/>
            </a:avLst>
          </a:prstGeom>
          <a:solidFill>
            <a:srgbClr val="0D1B2A"/>
          </a:solidFill>
          <a:ln/>
        </p:spPr>
      </p:sp>
      <p:sp>
        <p:nvSpPr>
          <p:cNvPr id="34" name="Shape 32"/>
          <p:cNvSpPr/>
          <p:nvPr/>
        </p:nvSpPr>
        <p:spPr>
          <a:xfrm>
            <a:off x="6309360" y="3474720"/>
            <a:ext cx="109728" cy="114300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35" name="Text 33"/>
          <p:cNvSpPr/>
          <p:nvPr/>
        </p:nvSpPr>
        <p:spPr>
          <a:xfrm>
            <a:off x="6510528" y="3547872"/>
            <a:ext cx="24231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Integração SCADA com o 1.º ativo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6309360" y="4754880"/>
            <a:ext cx="2743200" cy="1143000"/>
          </a:xfrm>
          <a:prstGeom prst="rect">
            <a:avLst>
              <a:gd name="adj" fmla="val 4800"/>
            </a:avLst>
          </a:prstGeom>
          <a:solidFill>
            <a:srgbClr val="0D1B2A"/>
          </a:solidFill>
          <a:ln/>
        </p:spPr>
      </p:sp>
      <p:sp>
        <p:nvSpPr>
          <p:cNvPr id="37" name="Shape 35"/>
          <p:cNvSpPr/>
          <p:nvPr/>
        </p:nvSpPr>
        <p:spPr>
          <a:xfrm>
            <a:off x="6309360" y="4754880"/>
            <a:ext cx="109728" cy="114300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38" name="Text 36"/>
          <p:cNvSpPr/>
          <p:nvPr/>
        </p:nvSpPr>
        <p:spPr>
          <a:xfrm>
            <a:off x="6510528" y="4828032"/>
            <a:ext cx="24231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Completar certificação técnica REN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9235440" y="1600200"/>
            <a:ext cx="2743200" cy="457200"/>
          </a:xfrm>
          <a:prstGeom prst="rect">
            <a:avLst>
              <a:gd name="adj" fmla="val 16000"/>
            </a:avLst>
          </a:prstGeom>
          <a:solidFill>
            <a:srgbClr val="0D1B2A"/>
          </a:solidFill>
          <a:ln/>
        </p:spPr>
      </p:sp>
      <p:sp>
        <p:nvSpPr>
          <p:cNvPr id="40" name="Text 38"/>
          <p:cNvSpPr/>
          <p:nvPr/>
        </p:nvSpPr>
        <p:spPr>
          <a:xfrm>
            <a:off x="9235440" y="16002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2026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9235440" y="2194560"/>
            <a:ext cx="2743200" cy="1143000"/>
          </a:xfrm>
          <a:prstGeom prst="rect">
            <a:avLst>
              <a:gd name="adj" fmla="val 4800"/>
            </a:avLst>
          </a:prstGeom>
          <a:solidFill>
            <a:srgbClr val="0D1B2A"/>
          </a:solidFill>
          <a:ln/>
        </p:spPr>
      </p:sp>
      <p:sp>
        <p:nvSpPr>
          <p:cNvPr id="42" name="Shape 40"/>
          <p:cNvSpPr/>
          <p:nvPr/>
        </p:nvSpPr>
        <p:spPr>
          <a:xfrm>
            <a:off x="9235440" y="2194560"/>
            <a:ext cx="109728" cy="11430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43" name="Text 41"/>
          <p:cNvSpPr/>
          <p:nvPr/>
        </p:nvSpPr>
        <p:spPr>
          <a:xfrm>
            <a:off x="9436608" y="2267712"/>
            <a:ext cx="24231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Go-live no primeiro ativo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9235440" y="3474720"/>
            <a:ext cx="2743200" cy="1143000"/>
          </a:xfrm>
          <a:prstGeom prst="rect">
            <a:avLst>
              <a:gd name="adj" fmla="val 4800"/>
            </a:avLst>
          </a:prstGeom>
          <a:solidFill>
            <a:srgbClr val="0D1B2A"/>
          </a:solidFill>
          <a:ln/>
        </p:spPr>
      </p:sp>
      <p:sp>
        <p:nvSpPr>
          <p:cNvPr id="45" name="Shape 43"/>
          <p:cNvSpPr/>
          <p:nvPr/>
        </p:nvSpPr>
        <p:spPr>
          <a:xfrm>
            <a:off x="9235440" y="3474720"/>
            <a:ext cx="109728" cy="11430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46" name="Text 44"/>
          <p:cNvSpPr/>
          <p:nvPr/>
        </p:nvSpPr>
        <p:spPr>
          <a:xfrm>
            <a:off x="9436608" y="3547872"/>
            <a:ext cx="24231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Reportar primeiros resultados a investidores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9235440" y="4754880"/>
            <a:ext cx="2743200" cy="1143000"/>
          </a:xfrm>
          <a:prstGeom prst="rect">
            <a:avLst>
              <a:gd name="adj" fmla="val 4800"/>
            </a:avLst>
          </a:prstGeom>
          <a:solidFill>
            <a:srgbClr val="0D1B2A"/>
          </a:solidFill>
          <a:ln/>
        </p:spPr>
      </p:sp>
      <p:sp>
        <p:nvSpPr>
          <p:cNvPr id="48" name="Shape 46"/>
          <p:cNvSpPr/>
          <p:nvPr/>
        </p:nvSpPr>
        <p:spPr>
          <a:xfrm>
            <a:off x="9235440" y="4754880"/>
            <a:ext cx="109728" cy="11430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49" name="Text 47"/>
          <p:cNvSpPr/>
          <p:nvPr/>
        </p:nvSpPr>
        <p:spPr>
          <a:xfrm>
            <a:off x="9436608" y="4828032"/>
            <a:ext cx="24231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Pipeline: 2.º e 3.º ativos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0" y="6537960"/>
            <a:ext cx="12192000" cy="18288"/>
          </a:xfrm>
          <a:prstGeom prst="rect">
            <a:avLst/>
          </a:prstGeom>
          <a:solidFill>
            <a:srgbClr val="C8D8E8"/>
          </a:solidFill>
          <a:ln/>
        </p:spPr>
      </p:sp>
      <p:sp>
        <p:nvSpPr>
          <p:cNvPr id="51" name="Text 49"/>
          <p:cNvSpPr/>
          <p:nvPr/>
        </p:nvSpPr>
        <p:spPr>
          <a:xfrm>
            <a:off x="457200" y="658368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Confidencial — Apenas para Investidores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11247120" y="658368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2026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5" name="Text 3"/>
          <p:cNvSpPr/>
          <p:nvPr/>
        </p:nvSpPr>
        <p:spPr>
          <a:xfrm>
            <a:off x="1097280" y="1371600"/>
            <a:ext cx="10058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Janela está Aberta.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1097280" y="2560320"/>
            <a:ext cx="8229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Portugal ainda não tem nenhum otimizador de baterias nativo.</a:t>
            </a:r>
            <a:endParaRPr lang="en-US" sz="18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quadro regulatório abriu. O pipeline de ativos está a crescer.</a:t>
            </a:r>
            <a:endParaRPr lang="en-US" sz="18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 o primeiro muda tudo.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1097280" y="4114800"/>
            <a:ext cx="2560320" cy="1463040"/>
          </a:xfrm>
          <a:prstGeom prst="rect">
            <a:avLst>
              <a:gd name="adj" fmla="val 6250"/>
            </a:avLst>
          </a:prstGeom>
          <a:solidFill>
            <a:srgbClr val="1B3A5C"/>
          </a:solidFill>
          <a:ln/>
        </p:spPr>
      </p:sp>
      <p:sp>
        <p:nvSpPr>
          <p:cNvPr id="8" name="Text 6"/>
          <p:cNvSpPr/>
          <p:nvPr/>
        </p:nvSpPr>
        <p:spPr>
          <a:xfrm>
            <a:off x="1097280" y="425196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€39B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1097280" y="489204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Mercado Global VPP 2035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931920" y="4114800"/>
            <a:ext cx="2560320" cy="1463040"/>
          </a:xfrm>
          <a:prstGeom prst="rect">
            <a:avLst>
              <a:gd name="adj" fmla="val 6250"/>
            </a:avLst>
          </a:prstGeom>
          <a:solidFill>
            <a:srgbClr val="1B3A5C"/>
          </a:solidFill>
          <a:ln/>
        </p:spPr>
      </p:sp>
      <p:sp>
        <p:nvSpPr>
          <p:cNvPr id="11" name="Text 9"/>
          <p:cNvSpPr/>
          <p:nvPr/>
        </p:nvSpPr>
        <p:spPr>
          <a:xfrm>
            <a:off x="3931920" y="425196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3931920" y="489204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Concorrentes nativos PT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766560" y="4114800"/>
            <a:ext cx="2560320" cy="1463040"/>
          </a:xfrm>
          <a:prstGeom prst="rect">
            <a:avLst>
              <a:gd name="adj" fmla="val 6250"/>
            </a:avLst>
          </a:prstGeom>
          <a:solidFill>
            <a:srgbClr val="1B3A5C"/>
          </a:solidFill>
          <a:ln/>
        </p:spPr>
      </p:sp>
      <p:sp>
        <p:nvSpPr>
          <p:cNvPr id="14" name="Text 12"/>
          <p:cNvSpPr/>
          <p:nvPr/>
        </p:nvSpPr>
        <p:spPr>
          <a:xfrm>
            <a:off x="6766560" y="425196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€400M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6766560" y="489204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Investimento público PT em BESS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9601200" y="4114800"/>
            <a:ext cx="2560320" cy="1463040"/>
          </a:xfrm>
          <a:prstGeom prst="rect">
            <a:avLst>
              <a:gd name="adj" fmla="val 6250"/>
            </a:avLst>
          </a:prstGeom>
          <a:solidFill>
            <a:srgbClr val="1B3A5C"/>
          </a:solidFill>
          <a:ln/>
        </p:spPr>
      </p:sp>
      <p:sp>
        <p:nvSpPr>
          <p:cNvPr id="17" name="Text 15"/>
          <p:cNvSpPr/>
          <p:nvPr/>
        </p:nvSpPr>
        <p:spPr>
          <a:xfrm>
            <a:off x="9601200" y="425196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7.8/10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9601200" y="489204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da oportunidade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0" y="6537960"/>
            <a:ext cx="12192000" cy="18288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" y="658368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Confidencial — Apenas para Investidores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247120" y="658368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2026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2026-03-24T14:05:07Z</dcterms:created>
  <dcterms:modified xsi:type="dcterms:W3CDTF">2026-03-24T14:05:07Z</dcterms:modified>
</cp:coreProperties>
</file>