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Bem-vindos. Hoje vou apresentar uma oportunidade de negócio concreta no mercado de energia ibérico.
O tema é simples: existem cada vez mais baterias a ser instaladas em Portugal e Espanha — e os seus proprietários não sabem como maximizar as receitas. Nós resolvemos esse problema com inteligência artificial.
Pontos a sublinhar:
- O mercado global de VPP vale €39 mil milhões em 2035
- Portugal acabou de abrir o quadro regulatório para este tipo de negócio
- Ainda não existe nenhuma empresa portuguesa nativa neste espaço
Objetivo desta reunião: explicar o modelo, a tecnologia, e o que precisamos para arrancar.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define o problema que estamos a resolver.
Os mercados de energia modernos têm três camadas de receita para uma bateria: arbitragem de preços (comprar barato, vender caro), serviços de equilíbrio de frequência (pago pela REN), e mecanismos de capacidade. Para capturar todas as três em simultâneo, é preciso um sistema de decisão em tempo real — o que nenhum promotor de energia em Portugal tem internamente.
Anedota útil: o primeiro BESS merchant de Portugal (Casal da Cortiça, 12 MVA) só entrou em operação em junho de 2025. O mercado é literalmente novo.
Mensagem principal: o problema não é técnico do lado do cliente — é que não existe ninguém a oferecer este serviço em Portugal de forma nativa.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dá uma visão de alto nível do que fazemos — os próximos dois slides aprofundam a tecnologia.
Ponto-chave a sublinhar para investidores não técnicos: nós NÃO compramos baterias. Gerimos baterias que já existem ou vão existir. O nosso produto é software e know-how de mercado.
O modelo de revenue share (10–25%) alinha incentivos: só ganhamos quando o cliente ganha mais do que ganharia sozinho.
Pergunta frequente: "Como é que garantem performance?" — resposta: shadow trading durante 3–6 meses antes de ir live. Mostramos ao cliente o que ganharíamos, e só depois assinamos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coração técnico da apresentação. Explicar cada camada brevemente:
1. DADOS DE MERCADO: Consumimos preços OMIE (day-ahead e intraday), sinais de equilíbrio da REN/REE, e previsão meteorológica (wind/solar afeta volatilidade de preços). Tudo via APIs públicas ou protocolos standard.
2. PREVISÃO DE PREÇOS: Modelo de machine learning (XGBoost ou Transformer) treinado em histórico OMIE. Prevê preços para as próximas 24–72 horas. Atualiza a cada 15 minutos com os dados mais recentes do mercado.
3. MOTOR DE DECISÃO (o mais importante): Deep Reinforcement Learning. Um agente treina em milhões de simulações de mercado para aprender a política ótima de carga/descarga. Supera métodos clássicos (MILP) em ~58% em estudos publicados. Considera o estado de carga da bateria, preços futuros previstos, e os constrangimentos físicos do ativo.
4. GESTÃO DE ATIVOS: Modela o estado físico da bateria em tempo real — estado de carga, temperatura, degradação. Protege o ativo do cliente contra sobre-ciclagem.
5. EXECUÇÃO: Liga ao BMS (Battery Management System) da bateria via protocolo IEC 61850 ou MODBUS. Envia comandos de carga/descarga. Simultaneamente, submete licitações automáticas no OMIE. Tudo em menos de 100 milissegundos.
Para investidores técnicos: mencionar que o código de forecasting pode usar a biblioteca OMIEData (open source, Python, GitHub) para dados históricos, e que o ambiente de simulação para treino RL pode ser construído em OpenAI Gym.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responde à pergunta "mas como é que isso se faz na prática?"
STACK — pontos a sublinhar:
- Tudo open-source. Sem licenças proprietárias caras. Stable-Baselines3 é a biblioteca standard para RL em Python (usada em investigação académica e indústria).
- OMIEData é um package Python público (GitHub: acruzgarcia/OMIEData) que permite descarregar dados históricos e live do mercado ibérico. Já existe — não temos de construir.
- A integração SCADA usa protocolos industriais standard (IEC 61850, MODBUS). Qualquer bateria moderna suporta.
- Grafana + InfluxDB é o stack de monitorização de energia standard na indústria.
TIMELINE — 12 meses do código ao primeiro ativo live:
- Meses 1–2: dados e infraestrutura. Nenhum algoritmo funciona sem dados limpos.
- Meses 3–5: o algoritmo central. O ambiente de simulação permite treinar o agente sem risco.
- Meses 6–8: ligar ao mundo real. Shadow trading é crítico — mostramos ao cliente o que ganharíamos sem arriscar o seu ativo.
- Meses 9–12: go-live e escalar.
Para investidores preocupados com risco técnico: a maior incerteza não é o algoritmo (é um problema bem definido com literatura publicada) — é a integração SCADA com cada BMS específico, que varia por fabricante (SMA, CATL, Tesla Megapack). Estimamos 1–4 semanas de engenharia por ativo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posiciona a oportunidade no tempo — é crucial para convencer investidores de que o timing é agora.
Argumentos principais:
- "O DL 15/2022 abriu a porta, mas a primeira empresa a entrar só o fez em fevereiro de 2025. Há menos de 14 meses que este mercado está tecnicamente aberto para independentes."
- "O primeiro BESS 100% merchant em Portugal só entrou em operação em junho de 2025. O mercado é literalmente bebé."
- "A Entrix (alemã) entrou em outubro de 2025. Se uma empresa alemã acha que vale a pena vir a Portugal, é sinal claro de que o mercado é real."
- "O governo português anunciou €400M para rede + BESS após instabilidade na rede ibérica. Há urgência política."
Sobre os números: 750 MVA no concurso de 2026 = centenas de ativos que vão precisar de otimização. Cada 1 MW de BESS gerido pode gerar €30K–80K/ano em receitas de mercado. Com 10% de revenue share = €3K–8K/MW/ano para nós.
Se nos perguntarem sobre o pipeline real em Portugal: existem menos de 20 promotores significativos de BESS em Portugal neste momento. O mercado de primeiros clientes é muito identificável.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sobre como fazemos dinheiro — importante para investidores perceberem a progressão.
Revenue Share (fase de arranque):
- Começamos aqui porque alinha incentivos e requer menos capital.
- O cliente não paga nada upfront — só recebe menos se nós ganharmos menos.
- Percentagem típica no mercado: 10–25% das receitas geradas pelo algoritmo.
- Risco para nós: se o algoritmo subperforma, ganhamos menos. Por isso o shadow trading é obrigatório antes.
Tolling (fase de escala):
- Pagamos uma taxa fixa mensal ao dono do ativo e ficamos com TODA a receita do mercado.
- Margens potencialmente muito altas, mas exige capital de working capital para pagar o toll antes de receber do mercado.
- Requer track record e confiança — não é para o arranque.
Floor Price (híbrido):
- Popular entre promotores de energia que querem bankability (financiamento bancário do projeto).
- Nós garantimos uma receita mínima — o banco do promotor fica mais confortável.
SaaS:
- Fase futura — quando tivermos algoritmo maduro e certificado.
- Vender licença a utilities ou grandes industriais que querem gerir os próprios ativos.
Número para memorizar: cada 10 MW de BESS sob gestão em revenue share gera ~€50K–150K/ano de receita para nós, sem custos marginais significativos.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 especial a este slide quando investidores perguntam "mas e a concorrência?"
Sobre os concorrentes:
- IGNIS (espanhola): entrou em fevereiro de 2025, foi a primeira. Mas é espanhola — não tem presença física em Portugal, sem escritório local, sem equipa dedicada ao mercado português.
- Entrix (alemã): anunciou Portugal em outubro de 2025. Mesma situação — operam remotamente de Munique.
- enspired e Axpo: presença não confirmada no mercado de otimização português.
O nosso diferencial não é sermos "mais baratos" — é sermos DAQUI:
- Processo regulatório com REN e DGEG é mais rápido com uma equipa que fala português e conhece as pessoas.
- Os promotores de BESS em Portugal preferem um parceiro local para contratos de longo prazo (5–10 anos).
- Capacidade de resposta imediata a problemas técnicos no ativo.
Sobre os moats: a certificação técnica pela REN é a barreira mais alta. IGNIS levou meses a obtê-la "a trabalhar lado a lado com a REN". Isso é uma barreira real que um novo entrante tem de repetir — e nós também temos de passar por ela, por isso é importante começar já.
Sobre os dados proprietários: cada mês de trading gera dados de licitações que nenhum concorrente tem. É um flywheel — quanto mais ativos gerimos, melhor fica o algoritmo, melhor é a proposta para novos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números — prepara-te para perguntas detalhadas.
Detalhe de cada balde:
EQUIPA (maior custo): 4 pessoas no Ano 1:
- CEO/Business Dev (fundador, salário reduzido/diferido no início)
- CTO / ML Engineer sénior: €55K–75K/ano bruto (Lisboa)
- Especialista de Mercados de Energia (ex-REN, ex-EDP): €45K–65K/ano
- Full-Stack Developer: €40K–55K/ano
- TSU patronal ~23.75% adicional
TECNOLOGIA: custo de engenharia (salários da equipa técnica durante 9 meses de MVP) + cloud (€500–2K/mês).
CAPITAL DE TRADING: este é o ponto mais sensível.
- O OMIE exige garantias financeiras para participar no mercado (montante não publicado — a verificar directamente).
- Estimativa: €50K–200K para volumes iniciais pequenos (5–20 MWh/dia).
- Este dinheiro não é gasto — está bloqueado como garantia. Pode ser uma linha de garantia bancária em vez de cash, o que liberta capital operacional.
REGULATÓRIO: o custo real é o escritório de advogados de energia (Macedo Vitorino, CMS, PLMJ). Processo DGEG + ERSE + OMIE + REN. €20K–40K no total para o primeiro ano.
Sobre o que fazer com o investimento:
1. Contratar a equipa técnica (ML + mercados)
2. Iniciar processo legal imediatamente (6–18 meses de prazo)
3. Construir o algoritmo e fazer shadow trading
4. Fechar acordo de piloto com primeiro ativo
Pre-seed recomendado: €200K–400K para chegar a proof-of-concept (algoritmo + shadow trading + processo regulatório iniciado), antes de levantar a seed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riscos de forma proativa demonstra maturidade — não esperes que os investidores perguntem.
RISCO REGULATÓRIO (o mais importante):
- A janela entre arrancar a empresa e conseguir a certificação para participar em serviços de equilíbrio é de 6–18 meses.
- Durante este período, ainda é possível fazer shadow trading e fechar acordos comerciais.
- A mitigação chave: contratar um energy lawyer experiente desde o Dia 1, e se possível, alguém com contactos na REN na equipa ou como advisor.
RISCO DE CAPITAL DE TRADING:
- A solução é negociar uma linha de garantia bancária com um banco comercial (Caixa, BPI, Santander têm produtos para PMEs).
- Isto transforma o requisito de €100K–350K em cash num custo de ~2–3% ao ano em juros — muito mais manejável.
RISCO CONCORRENCIAL:
- Argumento honesto: a Entrix e IGNIS têm vantagem de escala, mas têm desvantagem de distância. Em Portugal, os decisores querem falar com alguém que aparece numa reunião em Lisboa.
- A janela é real mas finita — 12–24 meses antes de o mercado estar mais consolidado.
RISCO DO ALGORITMO:
- O shadow trading é a nossa salvaguarda pública. Comprometemo-nos a não ir live com nenhum ativo sem pelo menos 3 meses de shadow trading documentado.
- Isto também serve de argumento de venda: "veja o que ganhámos no papel — agora vai a sério".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mostra que há um plano concreto — não estamos apenas a vender uma ideia.
Q1 2026 — as 3 coisas que se podem fazer AGORA, antes de investimento:
- Constituição da empresa é €300 e demora 1 semana online.
- Contactar um escritório de advogados de energia (Macedo Vitorino, CMS Law Portugal) para perceber o processo DGEG.
- Mapear os 15–20 promotores de BESS em Portugal e marcar reuniões exploratórias.
Q2 2026 — algoritmo:
- O código de forecasting pode começar com dados históricos OMIE (gratuitos, disponíveis via OMIEData).
- O ambiente de simulação RL pode ser construído com Gymnasium (OpenAI) e dados históricos.
- Não precisamos de uma bateria real para treinar o algoritmo — apenas dados.
Q3 2026 — o momento crítico:
- O piloto pode ser com um sistema pequeno (1–5 MW). Não precisa de ser uma instalação enorme.
- A integração SCADA é o passo técnico mais arriscado — depende do fabricante da bateria.
- Se a certificação REN demorar mais: podemos operar em arbitragem no OMIE sem certificação de serviços de equilíbrio (menor margem, mas prova de conceito).
Q4 2026 — milestone de investidores:
- Objetivo: ter receitas reais, mesmo que pequenas, para a próxima ronda.
- €3K–8K/MW/mês de receita da nossa parte em revenue share = prova de modelo.
Mensagem de fecho para este slide: "Em 12 meses, podemos ter um ativo live e dados reais de performance. É isso que nos separa de uma ideia de uma empresa real."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fecho — manter a energia alta.
Mensagem principal: o timing é agora. Não daqui a 2 anos — agora. O mercado abriu há menos de 14 meses, o primeiro concorrente nativo não existe, e há €400M de dinheiro público a entrar no setor.
Perguntas que podem vir a seguir e como responder:
"Quanto vos valorizamos?" → Não discutir valuation nesta reunião. "Estamos em fase de validação do interesse de investidores — quando tivermos 2–3 comprometidos, estruturamos os termos."
"Qual é o vosso background de energia?" → [Responder com o background real do António e co-fundadores. Se necessário: "Identificámos um advisor ex-REN / ex-EDP para nos apoiar no processo regulatório."]
"Porquê vocês e não a Entrix?" → "A Entrix é alemã. Nós somos portugueses. Os promotores de BESS em Portugal querem um parceiro que apareça nas reuniões, fale a língua, e conheça as pessoas na REN e no DGEG. Essa é a nossa vantagem estrutural."
"E se o algoritmo não funcionar bem?" → "Por isso fazemos shadow trading durante 3–6 meses antes de ir live. Não assinamos um contrato de revenue share sem provar o valor primeiro."
Encerrar com: "O que precisamos de vocês não é apenas capital — é também rede de contactos no setor energético e acesso a promotores de BESS. Isso acelera o processo de primeiro cliente mais do que qualquer outra coisa."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Optimizer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&amp; Ibéria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Armazenamento de Energia com IA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 Investidores —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0" y="3017520"/>
            <a:ext cx="3017520" cy="1645920"/>
          </a:xfrm>
          <a:prstGeom prst="rect">
            <a:avLst/>
          </a:prstGeom>
          <a:solidFill>
            <a:srgbClr val="1B3A5C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0" y="3840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VPP Global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Baterias a Perder Dinheiro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proprietários de baterias em Portugal não têm como otimizar as suas receitas sozinhos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Mercados Complexos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 no mercado grossista (OMIE), serviços de equilíbrio (REN) e mecanismos de capacidade — em simultâneo.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IA Obrigatória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carga/descarga em tempo real exigem algoritmos de ML que nenhum operador local tem.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Regulação Labiríntica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técnica pela REN + registo DGEG/ERSE + participação no OMIE. Barreiras altas para novos operadores.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Mercado Sem Jogador Nativo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4348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março de 2026, nenhuma empresa portuguesa detém licença de agregador independente em Portugal.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BESS Optimizer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Gerimos baterias de terceiros e maximizamos as suas receitas em todos os mercados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Ligamos a bateria via SCADA/telemetria em tempo real ao nosso sistema.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4572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84832"/>
            <a:ext cx="4572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Deep Reinforcement Learning decide carregar, descarregar ou aguardar.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2148840"/>
            <a:ext cx="4572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084832"/>
            <a:ext cx="45720" cy="182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8320" y="1645920"/>
            <a:ext cx="1280160" cy="12801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0" y="1691640"/>
            <a:ext cx="1280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Licitamos em OMIE + serviços de equilíbrio REN/REE em simultâneo.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4937760"/>
            <a:ext cx="7315200" cy="1280160"/>
          </a:xfrm>
          <a:prstGeom prst="rect">
            <a:avLst>
              <a:gd name="adj" fmla="val 10714"/>
            </a:avLst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8880" y="54864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10–25% das receitas geradas  •  Sem necessidade de possuir baterias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Tecnologia: Como Funciona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em tempo real → previsão de preços → decisão ótima → execução automática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148840" cy="4389120"/>
          </a:xfrm>
          <a:prstGeom prst="rect">
            <a:avLst>
              <a:gd name="adj" fmla="val 4255"/>
            </a:avLst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600200"/>
            <a:ext cx="2148840" cy="457200"/>
          </a:xfrm>
          <a:prstGeom prst="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Mercado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 API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 / REE feeds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meteorológica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788920"/>
            <a:ext cx="27432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600200"/>
            <a:ext cx="2148840" cy="4389120"/>
          </a:xfrm>
          <a:prstGeom prst="rect">
            <a:avLst>
              <a:gd name="adj" fmla="val 4255"/>
            </a:avLst>
          </a:prstGeom>
          <a:solidFill>
            <a:srgbClr val="1A5276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600200"/>
            <a:ext cx="2148840" cy="457200"/>
          </a:xfrm>
          <a:prstGeom prst="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0088" y="16276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Preços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214884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Transformer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24–72h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 cada 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27432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1600200"/>
            <a:ext cx="2148840" cy="4389120"/>
          </a:xfrm>
          <a:prstGeom prst="rect">
            <a:avLst>
              <a:gd name="adj" fmla="val 4255"/>
            </a:avLst>
          </a:prstGeom>
          <a:solidFill>
            <a:srgbClr val="0E66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0" y="1600200"/>
            <a:ext cx="2148840" cy="457200"/>
          </a:xfrm>
          <a:prstGeom prst="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16276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Decisão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14884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bateria + preços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simulações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95160" y="2788920"/>
            <a:ext cx="27432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1600200"/>
            <a:ext cx="2148840" cy="4389120"/>
          </a:xfrm>
          <a:prstGeom prst="rect">
            <a:avLst>
              <a:gd name="adj" fmla="val 4255"/>
            </a:avLst>
          </a:prstGeom>
          <a:solidFill>
            <a:srgbClr val="7D3C98"/>
          </a:solidFill>
          <a:ln/>
        </p:spPr>
      </p:sp>
      <p:sp>
        <p:nvSpPr>
          <p:cNvPr id="25" name="Shape 23"/>
          <p:cNvSpPr/>
          <p:nvPr/>
        </p:nvSpPr>
        <p:spPr>
          <a:xfrm>
            <a:off x="7269480" y="1600200"/>
            <a:ext cx="2148840" cy="457200"/>
          </a:xfrm>
          <a:prstGeom prst="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53528" y="16276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Ativos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214884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carga (SoC)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Degradação / ciclos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térmicos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26880" y="2788920"/>
            <a:ext cx="27432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Shape 28"/>
          <p:cNvSpPr/>
          <p:nvPr/>
        </p:nvSpPr>
        <p:spPr>
          <a:xfrm>
            <a:off x="9601200" y="1600200"/>
            <a:ext cx="2148840" cy="4389120"/>
          </a:xfrm>
          <a:prstGeom prst="rect">
            <a:avLst>
              <a:gd name="adj" fmla="val 4255"/>
            </a:avLst>
          </a:prstGeom>
          <a:solidFill>
            <a:srgbClr val="B03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1600200"/>
            <a:ext cx="2148840" cy="457200"/>
          </a:xfrm>
          <a:prstGeom prst="rect">
            <a:avLst>
              <a:gd name="adj" fmla="val 20000"/>
            </a:avLst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1600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85248" y="1627632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no Mercado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92640" y="214884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Licitação OMIE automática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→ BMS da bateria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milissegundos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6172200"/>
            <a:ext cx="11521440" cy="502920"/>
          </a:xfrm>
          <a:prstGeom prst="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19963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Ciclo completo executado a cada 15 minutos  •  Decisão de despacho em &lt; 100ms  •  Disponibilidade 99.9% (cloud)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&amp; Implementação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open-source + cloud standard — sem dependências proprietárias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411480"/>
          </a:xfrm>
          <a:prstGeom prst="rect">
            <a:avLst>
              <a:gd name="adj" fmla="val 13333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27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5270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00" cy="530352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2082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/ 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0208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Stable-Baselines3 (RL) · XGBoost · PyTorch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548640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877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Mercado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5877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OMIEData (Python) · API REN · API ENTSOE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5486400" cy="530352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546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SCADA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61850 · MODBUS TCP · OpenDNP3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66744"/>
            <a:ext cx="548640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2160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7216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· Docker · Kubernetes · Terraform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33672"/>
            <a:ext cx="5486400" cy="530352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885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Licitação Automática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2885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OMIE (registo como agente de mercado)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5486400" cy="53035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554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8554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InfluxDB · alertas Telegram/email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67528"/>
            <a:ext cx="5486400" cy="530352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22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Cliente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54223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(backend) · React (frontend) · PostgreSQL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 Implementação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0" y="1920240"/>
            <a:ext cx="1097280" cy="960120"/>
          </a:xfrm>
          <a:prstGeom prst="rect">
            <a:avLst>
              <a:gd name="adj" fmla="val 5714"/>
            </a:avLst>
          </a:prstGeom>
          <a:solidFill>
            <a:srgbClr val="00C9A7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9751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de Dados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920240"/>
            <a:ext cx="4389120" cy="960120"/>
          </a:xfrm>
          <a:prstGeom prst="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1993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Integrar API OMIE (histórico + live)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80960" y="2267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meteorológico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25420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InfluxDB para séries temporais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1097280" cy="960120"/>
          </a:xfrm>
          <a:prstGeom prst="rect">
            <a:avLst>
              <a:gd name="adj" fmla="val 5714"/>
            </a:avLst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Central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43800" y="3017520"/>
            <a:ext cx="4389120" cy="960120"/>
          </a:xfrm>
          <a:prstGeom prst="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0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Forecasting XGBoost (24–72h)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8096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Ambiente simulação (OpenAI Gym)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3639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Treino DRL com Stable-Baselines3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4114800"/>
            <a:ext cx="1097280" cy="960120"/>
          </a:xfrm>
          <a:prstGeom prst="rect">
            <a:avLst>
              <a:gd name="adj" fmla="val 5714"/>
            </a:avLst>
          </a:prstGeom>
          <a:solidFill>
            <a:srgbClr val="27AE6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169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6–8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&amp; Shadow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43800" y="4114800"/>
            <a:ext cx="4389120" cy="960120"/>
          </a:xfrm>
          <a:prstGeom prst="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4187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Conector IEC 61850 para 1.º ativo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Shadow trading ao vivo (sem risco)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80960" y="4736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de performance cliente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5212080"/>
            <a:ext cx="1097280" cy="960120"/>
          </a:xfrm>
          <a:prstGeom prst="rect">
            <a:avLst>
              <a:gd name="adj" fmla="val 5714"/>
            </a:avLst>
          </a:prstGeom>
          <a:solidFill>
            <a:srgbClr val="9B59B6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52669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9–12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00800" y="5669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43800" y="5212080"/>
            <a:ext cx="4389120" cy="960120"/>
          </a:xfrm>
          <a:prstGeom prst="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56" name="Text 54"/>
          <p:cNvSpPr/>
          <p:nvPr/>
        </p:nvSpPr>
        <p:spPr>
          <a:xfrm>
            <a:off x="7680960" y="5285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no OMIE + equilíbrio REN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680960" y="5559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Monitorização 24/7 Grafana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680960" y="5833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Onboarding 2.º e 3.º ativos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5943600"/>
            <a:ext cx="11430000" cy="594360"/>
          </a:xfrm>
          <a:prstGeom prst="rect">
            <a:avLst>
              <a:gd name="adj" fmla="val 12308"/>
            </a:avLst>
          </a:prstGeom>
          <a:solidFill>
            <a:srgbClr val="0D1B2A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5989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MVP Tecnológico (equipa 2–3 pessoas, 9 meses):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60720" y="5989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€90K – €160K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412480" y="6035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Salários Lisboa: €45K–€75K/ano (ML Engineer)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Portugal em Janela Única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MVA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de armazenamento PT —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MWh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273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em pipeline ambiental em Portugal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GW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462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armazenamento em Espanha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5029200" cy="1005840"/>
          </a:xfrm>
          <a:prstGeom prst="rect">
            <a:avLst>
              <a:gd name="adj" fmla="val 7273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66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5650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agregador independente autorizado em PT (estrangeiro)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Regulatória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217627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15/2022 — Quadro legal para agregadores independentes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290779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BESS merchant standalone em Portugal (Casal da Cortiça, 12 MVA)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47472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3952" y="363931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IGNIS: 1.º agregador independente autorizado pela REN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20624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3952" y="437083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133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2025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 anuncia entrada em Portugal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937760"/>
            <a:ext cx="164592" cy="164592"/>
          </a:xfrm>
          <a:prstGeom prst="ellipse">
            <a:avLst/>
          </a:prstGeom>
          <a:solidFill>
            <a:srgbClr val="8B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952" y="510235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864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H1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120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Concurso 750 MVA + €400M investimento público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Shape 37"/>
          <p:cNvSpPr/>
          <p:nvPr/>
        </p:nvSpPr>
        <p:spPr>
          <a:xfrm>
            <a:off x="6473952" y="5833872"/>
            <a:ext cx="18288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5852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oportunidade para player nativo português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Negócio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estruturas comerciais — arrancamos com Revenue Share, escalamos para Tolling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1371600" cy="320040"/>
          </a:xfrm>
          <a:prstGeom prst="rect">
            <a:avLst>
              <a:gd name="adj" fmla="val 14286"/>
            </a:avLst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27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otimizador fica com 10–25% do lucro gerado.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 incentivos. Risco de mercado com o dono do ativo.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00200"/>
            <a:ext cx="1371600" cy="3200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27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Pagamos uma taxa fixa ao dono e ficamos com toda a receita.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margem mas exige capital de trading.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886200"/>
            <a:ext cx="1371600" cy="320040"/>
          </a:xfrm>
          <a:prstGeom prst="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Price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Garantimos receita mínima ao dono.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Partilhamos o excedente — equilibra risco e incentivo.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886200"/>
            <a:ext cx="5394960" cy="1920240"/>
          </a:xfrm>
          <a:prstGeom prst="rect">
            <a:avLst>
              <a:gd name="adj" fmla="val 4762"/>
            </a:avLst>
          </a:prstGeom>
          <a:solidFill>
            <a:srgbClr val="0D1B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3886200"/>
            <a:ext cx="1371600" cy="320040"/>
          </a:xfrm>
          <a:prstGeom prst="rect">
            <a:avLst>
              <a:gd name="adj" fmla="val 14286"/>
            </a:avLst>
          </a:prstGeom>
          <a:solidFill>
            <a:srgbClr val="8B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913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4754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Licenciamos o algoritmo a operadores que gerem os próprios ativos.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margem, zero risco de trading.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 &amp; Concorrência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Nossos Moats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Certificações Regulatórias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meses para obter — barreira de entrada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Dados Proprietários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licitações melhora o algoritmo continuamente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Deep Reinforcement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708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vs. métodos tradicionais em arbitragem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5303520" cy="914400"/>
          </a:xfrm>
          <a:prstGeom prst="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🇵🇹  Player Nativo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4223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com REN/DGEG; agilidade regulatória local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em Portugal/Ibéria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0116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0" y="1828800"/>
            <a:ext cx="164592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247120" y="1828800"/>
            <a:ext cx="91440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712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194560"/>
            <a:ext cx="201168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94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IGNIS Energía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194560"/>
            <a:ext cx="13716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1945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Espanha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2194560"/>
            <a:ext cx="164592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194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247120" y="2194560"/>
            <a:ext cx="9144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92840" y="21945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880360"/>
            <a:ext cx="201168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2880360"/>
            <a:ext cx="13716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880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Alemanha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601200" y="2880360"/>
            <a:ext cx="164592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28803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1247120" y="2880360"/>
            <a:ext cx="9144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292840" y="2880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3566160"/>
            <a:ext cx="201168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566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enspired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0" y="3566160"/>
            <a:ext cx="13716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35661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Áustria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0" y="3566160"/>
            <a:ext cx="164592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46920" y="3566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confirmada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247120" y="3566160"/>
            <a:ext cx="914400" cy="640080"/>
          </a:xfrm>
          <a:prstGeom prst="rect">
            <a:avLst/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292840" y="3566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4251960"/>
            <a:ext cx="201168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251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29600" y="4251960"/>
            <a:ext cx="13716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4251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Suíça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601200" y="4251960"/>
            <a:ext cx="164592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4251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247120" y="4251960"/>
            <a:ext cx="914400" cy="640080"/>
          </a:xfrm>
          <a:prstGeom prst="rect">
            <a:avLst/>
          </a:prstGeom>
          <a:solidFill>
            <a:srgbClr val="0D1B2A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292840" y="4251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17920" y="4937760"/>
            <a:ext cx="201168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937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 empresa]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29600" y="4937760"/>
            <a:ext cx="137160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4937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01200" y="4937760"/>
            <a:ext cx="164592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4937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1247120" y="4937760"/>
            <a:ext cx="914400" cy="640080"/>
          </a:xfrm>
          <a:prstGeom prst="rect">
            <a:avLst/>
          </a:prstGeom>
          <a:solidFill>
            <a:srgbClr val="00C9A7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292840" y="4937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Investimento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700K€ a 1,5M€ para 18 meses de runway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65545"/>
            <a:ext cx="1097280" cy="2006455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108960"/>
            <a:ext cx="1097280" cy="1463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9785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€175K–240K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(4 pessoas)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3234363"/>
            <a:ext cx="1097280" cy="1337637"/>
          </a:xfrm>
          <a:prstGeom prst="rect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3819579"/>
            <a:ext cx="1097280" cy="752421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2868603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€90K–160K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/ 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45920"/>
            <a:ext cx="1097280" cy="2926080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735977"/>
            <a:ext cx="1097280" cy="83602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€100K–350K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4112187"/>
            <a:ext cx="1097280" cy="459813"/>
          </a:xfrm>
          <a:prstGeom prst="rect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4362994"/>
            <a:ext cx="1097280" cy="20900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746427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€25K–55K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 / Legal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3443369"/>
            <a:ext cx="1097280" cy="1128631"/>
          </a:xfrm>
          <a:prstGeom prst="rect">
            <a:avLst/>
          </a:prstGeom>
          <a:solidFill>
            <a:srgbClr val="8BA3B8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4112187"/>
            <a:ext cx="1097280" cy="459813"/>
          </a:xfrm>
          <a:prstGeom prst="rect">
            <a:avLst/>
          </a:prstGeom>
          <a:solidFill>
            <a:srgbClr val="8B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3077609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€55K–135K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/ Outros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0" y="1645920"/>
            <a:ext cx="1463040" cy="3291840"/>
          </a:xfrm>
          <a:prstGeom prst="rect">
            <a:avLst>
              <a:gd name="adj" fmla="val 6250"/>
            </a:avLst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1920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0" y="2651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€445K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0" y="3429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€940K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430000" cy="548640"/>
          </a:xfrm>
          <a:prstGeom prst="rect">
            <a:avLst>
              <a:gd name="adj" fmla="val 8333"/>
            </a:avLst>
          </a:prstGeom>
          <a:solidFill>
            <a:srgbClr val="FFF3CD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Capital de Trading (€100K–350K) é colateral bloqueado — não é gasto operacional. Com linha de garantia bancária, o burn operacional real é €345K–590K.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&amp; Mitigação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64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Regulatório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REN pode demorar 12+ meses sem receitas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Iniciar processo legal imediatamente. Shadow trading para validar o algoritmo antes de ir 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554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664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Trading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029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 OMIE/REN elevadas para novos operadores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Usar linhas de garantia bancária em vez de capital próprio. Começar com volumes pequenos (1–5 MW).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50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 Externa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Entrix e IGNIS já entraram em Portugal com escala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Foco em relações locais e agilidade. Vantagem nativa em DGEG/REN. Mover mais rápido.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394960" cy="1920240"/>
          </a:xfrm>
          <a:prstGeom prst="rect">
            <a:avLst>
              <a:gd name="adj" fmla="val 4762"/>
            </a:avLst>
          </a:prstGeom>
          <a:solidFill>
            <a:srgbClr val="1B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840480"/>
            <a:ext cx="320040" cy="1920240"/>
          </a:xfrm>
          <a:prstGeom prst="rect">
            <a:avLst>
              <a:gd name="adj" fmla="val 14286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950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do Algoritmo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Subperformance no 1.º ano destrói reputação imediatamente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3–6 meses de shadow trading obrigatórios antes de Live Trading com qualquer ativo.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54864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ideia ao primeiro ativo gerido — 12 meses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da empresa + NIF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47472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energy lawyer (processo DGEG/ERSE)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754880"/>
            <a:ext cx="10972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pipeline comercial com donos de BESS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219456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58444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do algoritmo (forecasting + RL)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347472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trading com dados OMIE históricos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3280" y="4754880"/>
            <a:ext cx="109728" cy="1143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 candidatura a agregador independente na REN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0936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219456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acordo de piloto (1–5 MW)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347472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1052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SCADA com o 1.º ativo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4754880"/>
            <a:ext cx="109728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651052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certificação técnica REN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35440" y="1600200"/>
            <a:ext cx="2743200" cy="457200"/>
          </a:xfrm>
          <a:prstGeom prst="rect">
            <a:avLst>
              <a:gd name="adj" fmla="val 16000"/>
            </a:avLst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923544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35440" y="219456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0" y="219456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9436608" y="226771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no primeiro ativo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235440" y="347472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5" name="Shape 43"/>
          <p:cNvSpPr/>
          <p:nvPr/>
        </p:nvSpPr>
        <p:spPr>
          <a:xfrm>
            <a:off x="9235440" y="347472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9436608" y="35478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primeiros resultados a investidores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235440" y="4754880"/>
            <a:ext cx="2743200" cy="1143000"/>
          </a:xfrm>
          <a:prstGeom prst="rect">
            <a:avLst>
              <a:gd name="adj" fmla="val 4800"/>
            </a:avLst>
          </a:prstGeom>
          <a:solidFill>
            <a:srgbClr val="0D1B2A"/>
          </a:solidFill>
          <a:ln/>
        </p:spPr>
      </p:sp>
      <p:sp>
        <p:nvSpPr>
          <p:cNvPr id="48" name="Shape 46"/>
          <p:cNvSpPr/>
          <p:nvPr/>
        </p:nvSpPr>
        <p:spPr>
          <a:xfrm>
            <a:off x="9235440" y="4754880"/>
            <a:ext cx="109728" cy="1143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9436608" y="48280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2.º e 3.º ativos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C8D8E8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está Aberta.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ainda não tem nenhum otimizador de baterias nativo.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regulatório abriu. O pipeline de ativos está a crescer.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o primeiro muda tudo.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VPP 2035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93192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nativos 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público PT em BESS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0" y="4114800"/>
            <a:ext cx="2560320" cy="1463040"/>
          </a:xfrm>
          <a:prstGeom prst="rect">
            <a:avLst>
              <a:gd name="adj" fmla="val 6250"/>
            </a:avLst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4251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7.8/10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da oportunidade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2000" cy="182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Apenas para Investidores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83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2026-03-24T14:18:43Z</dcterms:created>
  <dcterms:modified xsi:type="dcterms:W3CDTF">2026-03-24T14:18:43Z</dcterms:modified>
</cp:coreProperties>
</file>