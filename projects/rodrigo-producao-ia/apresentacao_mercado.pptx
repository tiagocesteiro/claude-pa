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51F2E"/>
          </a:solidFill>
          <a:ln w="12700">
            <a:solidFill>
              <a:srgbClr val="151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0"/>
            <a:ext cx="228600" cy="5143500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INTELIGÊNCIA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PRODUÇÃO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1417320" y="16276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Metalomecânica PME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80760" y="640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88696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de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92240" y="1591056"/>
            <a:ext cx="19202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7190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Viabilidade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417320" y="2286000"/>
            <a:ext cx="1188720" cy="274320"/>
          </a:xfrm>
          <a:prstGeom prst="rect">
            <a:avLst/>
          </a:prstGeom>
          <a:solidFill>
            <a:srgbClr val="243447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732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88920" y="2286000"/>
            <a:ext cx="1188720" cy="274320"/>
          </a:xfrm>
          <a:prstGeom prst="rect">
            <a:avLst/>
          </a:prstGeom>
          <a:solidFill>
            <a:srgbClr val="243447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Ibéria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60520" y="2286000"/>
            <a:ext cx="1188720" cy="274320"/>
          </a:xfrm>
          <a:prstGeom prst="rect">
            <a:avLst/>
          </a:prstGeom>
          <a:solidFill>
            <a:srgbClr val="243447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83464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91640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mercado real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18688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91640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Prós, contras e dificuldades honestas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60273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3584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 e modelo de negócio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27432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 ·  Cubotonic, Malveira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O 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todos os dias nas fábricas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5331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Orçamentação manual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8912" y="21762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horas por cotação.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10–25% que destroem a margem ou perdem o cliente.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18688" y="1143000"/>
            <a:ext cx="2743200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8688" y="1143000"/>
            <a:ext cx="27432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5331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impossíveis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383280" y="21762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Compromissos assumidos sem visibilidade real de capacidade. Atrasos recorrentes e clientes perdidos.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63056" y="1143000"/>
            <a:ext cx="2743200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143000"/>
            <a:ext cx="2743200" cy="73152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533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Urgências como regra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27648" y="217627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urgentes inseridas sem análise de impacto. Efeito dominó que paralisa a fábrica.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43447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611880"/>
            <a:ext cx="54864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" y="37307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planeador sabe que vai correr mal. Mas não sabe quanto, nem onde, nem quando."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502920" y="42245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diária nas PME metalomecânicas portuguesas  ·  6 problemas com impacto financeiro directo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A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Inteligência de Produção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apenas um modelo de previsão. É um sistema que pensa junto com o planeador.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605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280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orçamentos automaticamente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DXF, ERP ou linguagem natural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09160" y="1188720"/>
            <a:ext cx="41605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188720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4475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67528" y="1280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carga por posto de trabalho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67528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Laser, quinagem, soldadura, pintura, montagem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4320" y="2304288"/>
            <a:ext cx="41605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304288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contra a fila activa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32688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antes de comprometer data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2304288"/>
            <a:ext cx="41605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304288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6032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67528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perguntas reais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67528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 aceitar esta urgência, o que atrasa?'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274320" y="3419856"/>
            <a:ext cx="41605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74320" y="3419856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75888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2688" y="3511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proactivos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32688" y="3785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atraso, risco de retrabalho, desgaste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709160" y="3419856"/>
            <a:ext cx="41605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709160" y="3419856"/>
            <a:ext cx="54864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75888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67528" y="3511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continuamente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367528" y="3785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ordem concluída melhora o modelo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 CHAVE: Arquitectura configurável por fábrica — cada cliente tem o seu modelo. Funciona com ou sem ERP.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MERCADO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Mercado — Números Reais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01168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~4.800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56032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metalomecânicas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Portugal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097280"/>
            <a:ext cx="201168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~35.000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metalomecânicas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Península Ibérica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201168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~180.000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90288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metalomecânicas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Europa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57416" y="1097280"/>
            <a:ext cx="2011680" cy="1371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57416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€2–30M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57416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 média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ICP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670048"/>
            <a:ext cx="4160520" cy="2240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670048"/>
            <a:ext cx="54864" cy="2240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Portugal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" y="309067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Maioritariamente empresas familiares, tecnologicamente conservadoras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Decisores: engenheiros/gestores 40–60 anos — cépticos mas pragmáticos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Ciclo de venda longo (3–9 meses) — baseado em confiança e prova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PRR e Portugal 2030 financiam digitalização de PME (argumento de venda)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AIMMAP e PRODUTECH como portas de entrada privilegiadas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1728" y="2670048"/>
            <a:ext cx="4160520" cy="2240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2670048"/>
            <a:ext cx="54864" cy="2240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Faseamento de Entrada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(Ano 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91072" y="3108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— Norte/Centro. 5–10 clientes piloto. Target: €30–80K ARR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7124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(Ano 2)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3712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completo + Espanha. 20–40 clientes. Target: €150–300K ARR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4315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(Ano 3+)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1072" y="4315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Ibéria + França/Alemanha. 100+ clientes. Target: €500K–1M ARR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7731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Estes valores assumem execução consistente e validação de mercado positiva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VANTAGENS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Pode Funcionar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reais e diferenciadores competitivos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4630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financeiro comprovado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2104" y="1536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Orçamentação errada e atrasos têm custos mensuráveis. O cliente sente a dor todos os dias.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90872" y="118872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4630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domínio raro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266944" y="1536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trabalha na indústria. Percebe a língua, os processos, os materiais, as máquinas. Concorrentes genéricos não têm isso.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56032" y="233172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606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" y="2404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parsing — diferenciador técnico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2104" y="2679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Extracção automática de geometria de ficheiros CAD elimina entrada manual de dados. Ninguém no mercado acessível faz isto para PME.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90872" y="233172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6060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66944" y="2404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multi-fábrica configurável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266944" y="2679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tem o modelo adaptado à sua fábrica. Cria barreiras à saída: quanto mais usam, mais o modelo aprende deles.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56032" y="347472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74904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2104" y="3547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sem solução acessível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32104" y="3822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profissionais custam €50–200K de implementação. ERP básico não tem previsão de carga. Há um gap de mercado real.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690872" y="3474720"/>
            <a:ext cx="41605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74904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66944" y="3547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contínua = vantagem crescente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266944" y="38221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fica melhor com o tempo e com mais clientes. O valor aumenta — não diminui. Network effects de dados.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256032" y="4590288"/>
            <a:ext cx="8641080" cy="320040"/>
          </a:xfrm>
          <a:prstGeom prst="rect">
            <a:avLst/>
          </a:prstGeom>
          <a:solidFill>
            <a:srgbClr val="1A3A1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56032" y="4590288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estratégica central: o produto aprende com os dados do cliente e fica mais difícil de substituir com o tempo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RISCOS &amp; DESAFIOS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Total — Riscos Reais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estes riscos garante o fracasso. Conhecê-los é a primeira defesa.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416052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88720"/>
            <a:ext cx="416052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85032" y="1243584"/>
            <a:ext cx="658368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2435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5331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1298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sem dados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4048" y="164592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real, o modelo sintético pode ser impreciso. O primeiro cliente aceita resultados inferiores? Como convencer?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4048" y="203911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Piloto gratuito + dados sintéticos calibrados + transparência total sobre confiança do modelo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90872" y="1188720"/>
            <a:ext cx="416052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90872" y="1188720"/>
            <a:ext cx="416052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19872" y="1243584"/>
            <a:ext cx="658368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9872" y="12435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35331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93792" y="1298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vendas longo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818888" y="164592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conservadoras. Decisão pode demorar 6–12 meses. Cashflow negativo durante muito tempo antes do primeiro euro.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18888" y="203911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Entrar pela dor mais aguda (orçamentação). Demo com dados da própria empresa do prospect.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6032" y="2450592"/>
            <a:ext cx="416052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56032" y="2450592"/>
            <a:ext cx="4160520" cy="54864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685032" y="2505456"/>
            <a:ext cx="658368" cy="256032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85032" y="25054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61518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58952" y="2560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 à mudança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384048" y="290779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'Sempre fizemos assim'. Planeadores vêem a ferramenta como ameaça ao seu emprego. Sabotagem passiva é real.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384048" y="33009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Posicionar como assistente, não como substituto. Envolver o planeador no onboarding.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690872" y="2450592"/>
            <a:ext cx="416052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90872" y="2450592"/>
            <a:ext cx="4160520" cy="54864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19872" y="2505456"/>
            <a:ext cx="658368" cy="256032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119872" y="25054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615184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93792" y="2560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— problema de dados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818888" y="290779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soldadura manual tem tracking histórico muito fraco (como identificaste). Este é o posto mais difícil de modelar e o erro vai ser maior.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818888" y="33009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Sub-modelo de soldadura com intervalos de confiança mais largos. Comunicar limitação claramente.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256032" y="3712464"/>
            <a:ext cx="416052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56032" y="3712464"/>
            <a:ext cx="4160520" cy="54864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685032" y="3767328"/>
            <a:ext cx="658368" cy="256032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685032" y="37673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77056"/>
            <a:ext cx="274320" cy="2743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58952" y="38221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técnica para 1 pessoa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384048" y="41696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parsing + ML + API + agente conversacional + ERP integration + multi-tenant. Scope muito ambicioso para construir sozinho.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384048" y="456285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MVP foco total em orçamentação (1 caso de uso). Só escalar quando validado.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4690872" y="3712464"/>
            <a:ext cx="416052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4690872" y="3712464"/>
            <a:ext cx="4160520" cy="54864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119872" y="3767328"/>
            <a:ext cx="658368" cy="256032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8119872" y="37673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5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877056"/>
            <a:ext cx="274320" cy="27432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193792" y="38221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futura de ERPs</a:t>
            </a:r>
            <a:endParaRPr lang="en-US" sz="1250" dirty="0"/>
          </a:p>
        </p:txBody>
      </p:sp>
      <p:sp>
        <p:nvSpPr>
          <p:cNvPr id="53" name="Text 45"/>
          <p:cNvSpPr/>
          <p:nvPr/>
        </p:nvSpPr>
        <p:spPr>
          <a:xfrm>
            <a:off x="4818888" y="41696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Odoo e PHC podem adicionar módulos de IA. Não agora — mas em 3–5 anos é plausível.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4818888" y="456285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Especialização profunda (DXF parsing, domínio metalomecânico) que ERPs genéricos não replicam facilmente.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CONCORRÊNCIA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Competitivo Honesto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no mercado e porque existe espaço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70432"/>
          <a:ext cx="8631936" cy="338328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463040"/>
                <a:gridCol w="1600200"/>
                <a:gridCol w="1600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/ Custo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Previsão?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Específico Metal.?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Acessível PME?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(Epicor, Infor)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€50K–€200K impl.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€20K/ano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 — só grandes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Genérico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(SAP B1, PHC, Odoo)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€5K–€30K impl.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€3K/ano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 / básico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Parcialmente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avançado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(solução actual)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 (manual)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Depende do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genérica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(GPT, Copilot)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CF0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€20–€50/user/mês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 (sem domínio)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 mas inútil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 produto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(Rodrigo)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€200–€600/mês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(proposta)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 + DXF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 (especializado)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 — foco PME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6032" y="4663440"/>
            <a:ext cx="8631936" cy="320040"/>
          </a:xfrm>
          <a:prstGeom prst="rect">
            <a:avLst/>
          </a:prstGeom>
          <a:solidFill>
            <a:srgbClr val="243447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466344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 de mercado é real: nada entre o Excel (gratuito mas inútil) e o MES (caro demais para PME). Este produto ocupa exactamente esse espaço.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MODELO DE NEGÓCIO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Monetiza — Opções e Recomendação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274320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SaaS Mensal/Anual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2336" y="1600200"/>
            <a:ext cx="24231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6824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Starter: €200/mês (1 fábrica, 3 postos)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Growth: €400/mês (1 fábrica, ilimitado)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5237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Enterprise: €700/mês (multi-fábrica, API)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" y="2999232"/>
            <a:ext cx="24231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090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Receita recorrente e previsível. Escala.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3529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PME PT resistem a compromissos mensais sem ROI comprovado.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743200" cy="36576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46704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Fee Inicial + Manutenção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346704" y="1600200"/>
            <a:ext cx="24231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16824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Setup: €2.000–€5.000 (configuração + onboarding)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46704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Manutenção: €1.500–€3.000/ano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46704" y="25237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Updates e retreino incluídos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2999232"/>
            <a:ext cx="24231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3090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Mais fácil de vender a PME conservadoras (pagamento único).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46704" y="3529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escala. Depende sempre de novos clientes.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1143000"/>
            <a:ext cx="2743200" cy="3657600"/>
          </a:xfrm>
          <a:prstGeom prst="rect">
            <a:avLst/>
          </a:prstGeom>
          <a:solidFill>
            <a:srgbClr val="1A2E1A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143000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RECOMENDADO: Híbrido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91072" y="1600200"/>
            <a:ext cx="24231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6824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Piloto 90 dias: GRATUITO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 de onboarding: €1.500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1072" y="25237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Subscripção anual: €2.400–€4.800/ano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2999232"/>
            <a:ext cx="2423160" cy="18288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090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Elimina barreira de entrada. Comprova valor antes de cobrar. Após piloto, a conversão é natural.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1072" y="3529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Cashflow lento no início. Exige que o produto funcione bem no piloto.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919472"/>
            <a:ext cx="8631936" cy="256032"/>
          </a:xfrm>
          <a:prstGeom prst="rect">
            <a:avLst/>
          </a:prstGeom>
          <a:solidFill>
            <a:srgbClr val="C4841A"/>
          </a:solidFill>
          <a:ln w="12700">
            <a:solidFill>
              <a:srgbClr val="C484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91947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realista Ano 1: 5–8 clientes × €2.400/ano = €12K–€20K ARR  |  Breakeven estimado: 12–18 meses  |  Margem SaaS matura: 70–80%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201168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1F2E"/>
                </a:solidFill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12 Meses — O Que Construir e Quando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2057400"/>
            <a:ext cx="8631936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20240"/>
            <a:ext cx="292608" cy="292608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212848"/>
            <a:ext cx="36576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624328"/>
            <a:ext cx="1261872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624328"/>
            <a:ext cx="1261872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6700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entrevistas com planeadores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3520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Confirmar o ICP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" y="4023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construir ainda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9424" y="1920240"/>
            <a:ext cx="292608" cy="292608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2212848"/>
            <a:ext cx="36576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0512" y="2624328"/>
            <a:ext cx="1261872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10512" y="2624328"/>
            <a:ext cx="1261872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117043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2–3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0512" y="26700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+ Modelo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8366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Dados sintéticos (10K ordens)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83664" y="3520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Parser DXF funcional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83664" y="4023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baseline treinado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12464" y="1920240"/>
            <a:ext cx="292608" cy="292608"/>
          </a:xfrm>
          <a:prstGeom prst="oval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212848"/>
            <a:ext cx="36576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552" y="2624328"/>
            <a:ext cx="1261872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2624328"/>
            <a:ext cx="1261872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117043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4–5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73552" y="26700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&amp;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4670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+ Streamlit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46704" y="3520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deployment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46704" y="4023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funcional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75504" y="1920240"/>
            <a:ext cx="292608" cy="292608"/>
          </a:xfrm>
          <a:prstGeom prst="oval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2212848"/>
            <a:ext cx="36576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2624328"/>
            <a:ext cx="1261872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2624328"/>
            <a:ext cx="1261872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117043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5–7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36592" y="26700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Fábrica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974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1ª fábrica parceira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9744" y="3520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Calibração com dados reais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9744" y="4023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loop activo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38544" y="1920240"/>
            <a:ext cx="292608" cy="292608"/>
          </a:xfrm>
          <a:prstGeom prst="oval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2212848"/>
            <a:ext cx="36576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2624328"/>
            <a:ext cx="1261872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2624328"/>
            <a:ext cx="1261872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117043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8–9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99632" y="26700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Conversacional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7278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 + Claude API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72784" y="3520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de chat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72784" y="4023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Integração ERP REST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01584" y="1920240"/>
            <a:ext cx="292608" cy="292608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0" y="2212848"/>
            <a:ext cx="36576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62672" y="2624328"/>
            <a:ext cx="1261872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662672" y="2624328"/>
            <a:ext cx="1261872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62672" y="1170432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10–12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662672" y="26700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Cliente Pagante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735824" y="301752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 + proposta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35824" y="352044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Converter piloto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35824" y="40233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€2.400/ano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56032" y="493776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absoluta do MVP: orçamentação automática (1 caso de uso, 1 fábrica, 1 modelo). Não construir tudo ao mesmo tempo.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64992" y="0"/>
            <a:ext cx="5779008" cy="5143500"/>
          </a:xfrm>
          <a:prstGeom prst="rect">
            <a:avLst/>
          </a:prstGeom>
          <a:solidFill>
            <a:srgbClr val="151F2E"/>
          </a:solidFill>
          <a:ln w="12700">
            <a:solidFill>
              <a:srgbClr val="151F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548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160020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" y="1920240"/>
            <a:ext cx="29443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valor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mercado.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7160" y="3154680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as devidas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cautelas.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66160" y="274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8229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3632" y="8229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financeiro real e mensurável — disposição a pagar existe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35331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13632" y="135331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 mercado concreto entre Excel e MES caro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8366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3632" y="188366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 técnico (DXF + domínio) difícil de replicar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414016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13632" y="241401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escala: Portugal → Ibéria → Europa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944368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13632" y="294436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e ciclo de vendas longo são riscos sérios</a:t>
            </a:r>
            <a:endParaRPr lang="en-US" sz="12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474720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913632" y="34747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e pintura têm dados históricos fracos — erro maior inicial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4005072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913632" y="400507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deve focar em 1 caso de uso. Não construir tudo ao mesmo tempo.</a:t>
            </a:r>
            <a:endParaRPr lang="en-US" sz="1250" dirty="0"/>
          </a:p>
        </p:txBody>
      </p:sp>
      <p:sp>
        <p:nvSpPr>
          <p:cNvPr id="24" name="Shape 14"/>
          <p:cNvSpPr/>
          <p:nvPr/>
        </p:nvSpPr>
        <p:spPr>
          <a:xfrm>
            <a:off x="3566160" y="4553712"/>
            <a:ext cx="5285232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3566160" y="4553712"/>
            <a:ext cx="5285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validar com 5 planeadores reais antes de escrever 1 linha de código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Inteligência de Produção — Metalomecânica</dc:title>
  <dc:subject>PptxGenJS Presentation</dc:subject>
  <dc:creator>Rodrigo</dc:creator>
  <cp:lastModifiedBy>Rodrigo</cp:lastModifiedBy>
  <cp:revision>1</cp:revision>
  <dcterms:created xsi:type="dcterms:W3CDTF">2026-03-23T23:58:20Z</dcterms:created>
  <dcterms:modified xsi:type="dcterms:W3CDTF">2026-03-23T23:58:20Z</dcterms:modified>
</cp:coreProperties>
</file>